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a7bdc132864c5d" /><Relationship Type="http://schemas.openxmlformats.org/officeDocument/2006/relationships/extended-properties" Target="/docProps/app.xml" Id="R2853bfbf7665451f" /><Relationship Type="http://schemas.openxmlformats.org/officeDocument/2006/relationships/officeDocument" Target="/ppt/presentation.xml" Id="R43776b4ba27146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55abfd9fb14c79"/>
  </p:sldMasterIdLst>
  <p:notesMasterIdLst>
    <p:notesMasterId xmlns:r="http://schemas.openxmlformats.org/officeDocument/2006/relationships" r:id="Rc58731a6f3474f19"/>
  </p:notesMasterIdLst>
  <p:sldIdLst>
    <p:sldId xmlns:r="http://schemas.openxmlformats.org/officeDocument/2006/relationships" id="256" r:id="R9ec459a99b2e4d7f"/>
    <p:sldId xmlns:r="http://schemas.openxmlformats.org/officeDocument/2006/relationships" id="257" r:id="R772add71aca64a90"/>
    <p:sldId xmlns:r="http://schemas.openxmlformats.org/officeDocument/2006/relationships" id="258" r:id="R73de4e7b0b43416a"/>
    <p:sldId xmlns:r="http://schemas.openxmlformats.org/officeDocument/2006/relationships" id="259" r:id="Reed64ccfe3d3483f"/>
    <p:sldId xmlns:r="http://schemas.openxmlformats.org/officeDocument/2006/relationships" id="260" r:id="Rd28ca616502f4bec"/>
    <p:sldId xmlns:r="http://schemas.openxmlformats.org/officeDocument/2006/relationships" id="261" r:id="R340322e477144973"/>
    <p:sldId xmlns:r="http://schemas.openxmlformats.org/officeDocument/2006/relationships" id="262" r:id="R89932e7653f04d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3081311e884698" /><Relationship Type="http://schemas.openxmlformats.org/officeDocument/2006/relationships/slideMaster" Target="/ppt/slideMasters/slideMaster1.xml" Id="R5255abfd9fb14c79" /><Relationship Type="http://schemas.openxmlformats.org/officeDocument/2006/relationships/notesMaster" Target="/ppt/notesMasters/notesMaster1.xml" Id="Rc58731a6f3474f19" /><Relationship Type="http://schemas.openxmlformats.org/officeDocument/2006/relationships/presProps" Target="/ppt/presProps.xml" Id="R714f077126d0473c" /><Relationship Type="http://schemas.openxmlformats.org/officeDocument/2006/relationships/viewProps" Target="/ppt/viewProps.xml" Id="Rdc7265398074446f" /><Relationship Type="http://schemas.openxmlformats.org/officeDocument/2006/relationships/tableStyles" Target="/ppt/tableStyles.xml" Id="R6ce2924c571f4f1c" /><Relationship Type="http://schemas.openxmlformats.org/officeDocument/2006/relationships/slide" Target="/ppt/slides/slide1.xml" Id="R9ec459a99b2e4d7f" /><Relationship Type="http://schemas.openxmlformats.org/officeDocument/2006/relationships/slide" Target="/ppt/slides/slide2.xml" Id="R772add71aca64a90" /><Relationship Type="http://schemas.openxmlformats.org/officeDocument/2006/relationships/slide" Target="/ppt/slides/slide3.xml" Id="R73de4e7b0b43416a" /><Relationship Type="http://schemas.openxmlformats.org/officeDocument/2006/relationships/slide" Target="/ppt/slides/slide4.xml" Id="Reed64ccfe3d3483f" /><Relationship Type="http://schemas.openxmlformats.org/officeDocument/2006/relationships/slide" Target="/ppt/slides/slide5.xml" Id="Rd28ca616502f4bec" /><Relationship Type="http://schemas.openxmlformats.org/officeDocument/2006/relationships/slide" Target="/ppt/slides/slide6.xml" Id="R340322e477144973" /><Relationship Type="http://schemas.openxmlformats.org/officeDocument/2006/relationships/slide" Target="/ppt/slides/slide7.xml" Id="R89932e7653f04d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8e369f235c41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c7e77ba9e44161" /><Relationship Type="http://schemas.openxmlformats.org/officeDocument/2006/relationships/notesMaster" Target="/ppt/notesMasters/notesMaster1.xml" Id="R1b36f3874c1c41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a15ba9e0d54bff" /><Relationship Type="http://schemas.openxmlformats.org/officeDocument/2006/relationships/notesMaster" Target="/ppt/notesMasters/notesMaster1.xml" Id="Rec4c66943d254e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72b9fb9f294ac9" /><Relationship Type="http://schemas.openxmlformats.org/officeDocument/2006/relationships/notesMaster" Target="/ppt/notesMasters/notesMaster1.xml" Id="Rb86ac1eddc0c44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9aac8be0584fef" /><Relationship Type="http://schemas.openxmlformats.org/officeDocument/2006/relationships/notesMaster" Target="/ppt/notesMasters/notesMaster1.xml" Id="Radd56b151cd14b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619ccb7961446f" /><Relationship Type="http://schemas.openxmlformats.org/officeDocument/2006/relationships/notesMaster" Target="/ppt/notesMasters/notesMaster1.xml" Id="R1b4dc642e3264e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c3fd810baa4ff6" /><Relationship Type="http://schemas.openxmlformats.org/officeDocument/2006/relationships/notesMaster" Target="/ppt/notesMasters/notesMaster1.xml" Id="R6314c76d27fe44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d026b51f5540b4" /><Relationship Type="http://schemas.openxmlformats.org/officeDocument/2006/relationships/notesMaster" Target="/ppt/notesMasters/notesMaster1.xml" Id="Rc18dccd5268a45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e9faf9b184a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d84f75bd694889" /><Relationship Type="http://schemas.openxmlformats.org/officeDocument/2006/relationships/slideLayout" Target="/ppt/slideLayouts/slideLayout1.xml" Id="Rbcd1dd9b809346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d1dd9b809346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299aadec948f4" /><Relationship Type="http://schemas.openxmlformats.org/officeDocument/2006/relationships/notesSlide" Target="/ppt/notesSlides/notesSlide1.xml" Id="R602333fbf2ef43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5849d24744cbe" /><Relationship Type="http://schemas.openxmlformats.org/officeDocument/2006/relationships/notesSlide" Target="/ppt/notesSlides/notesSlide2.xml" Id="R69847167ffba4d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9179f4480463e" /><Relationship Type="http://schemas.openxmlformats.org/officeDocument/2006/relationships/image" Target="/ppt/media/image.png" Id="Rd76c374e57a94675" /><Relationship Type="http://schemas.openxmlformats.org/officeDocument/2006/relationships/notesSlide" Target="/ppt/notesSlides/notesSlide3.xml" Id="R48b53e5d131f40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460abe90b4e51" /><Relationship Type="http://schemas.openxmlformats.org/officeDocument/2006/relationships/image" Target="/ppt/media/image2.png" Id="R34aa2a126dde4794" /><Relationship Type="http://schemas.openxmlformats.org/officeDocument/2006/relationships/notesSlide" Target="/ppt/notesSlides/notesSlide4.xml" Id="Rada1a70087814a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e5111b37e4d79" /><Relationship Type="http://schemas.openxmlformats.org/officeDocument/2006/relationships/image" Target="/ppt/media/image3.png" Id="R0010525eef8a4466" /><Relationship Type="http://schemas.openxmlformats.org/officeDocument/2006/relationships/notesSlide" Target="/ppt/notesSlides/notesSlide5.xml" Id="R4c4d4dd4e05344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dc6c21fcb4bcb" /><Relationship Type="http://schemas.openxmlformats.org/officeDocument/2006/relationships/notesSlide" Target="/ppt/notesSlides/notesSlide6.xml" Id="R4099fccafc5347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7acfd41dd49f9" /><Relationship Type="http://schemas.openxmlformats.org/officeDocument/2006/relationships/notesSlide" Target="/ppt/notesSlides/notesSlide7.xml" Id="Rea501dbf3a1349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F68BBEB4-D0E0-43ED-86AE-E3C64C9C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35"/>
          </a:solidFill>
          <a:ln xmlns:a="http://schemas.openxmlformats.org/drawingml/2006/main" w="0">
            <a:solidFill>
              <a:srgbClr val="D66A35"/>
            </a:solidFill>
          </a:ln>
        </p:spPr>
      </p:sp>
      <p:sp>
        <p:nvSpPr>
          <p:cNvPr id="2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D73E6D8D-F807-44DA-8980-83D089C7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387CB-7B18-45FF-BFC5-FDEABF61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42950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Off-nadir clutter can</a:t>
            </a:r>
          </a:p>
          <a:p xmlns:a="http://schemas.openxmlformats.org/drawingml/2006/main">
            <a:pPr algn="l">
              <a:defRPr sz="330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masquerade as a 440 m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01F44-065D-4C42-9B41-A20990F9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57450"/>
            <a:ext cx="752475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My explanation is that a surface feature to the side adds extra slant-path travel time. The radar converts that time delay into an ice-equivalent depth, so a surface echo can look subsurface.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FE23D-FC08-4676-B90A-E5E45EC0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838200"/>
            <a:ext cx="24003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0">
            <a:solidFill>
              <a:srgbClr val="1424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C1EE1-4098-41E3-A5AB-4A4A0332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085850"/>
            <a:ext cx="18859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 think will happen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5A923-2EA4-499E-9892-75345E02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43050"/>
            <a:ext cx="1943100" cy="1466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curved, view-dependent reflector appears near 438 m at closest approach, even though the reflecting point is on the surface.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3CB1C-9742-4872-8FE1-6CAB2D71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4EF3-83E6-4758-801C-A49DEE0E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1790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400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5C994-0646-4973-9D3C-189CF70A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17907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spacecraft altitude 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ADF4C-63DF-4351-B8BA-8D19AD5C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14800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BED42-FA26-4C05-8A5D-965C1F29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29100"/>
            <a:ext cx="15049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25 km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28F48-DDA2-4B82-821C-0E00ADF0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81525"/>
            <a:ext cx="1504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side offset 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365D2-EE3C-4C93-9256-26E06DFA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14800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CC78B-0E01-40EB-9273-8C588A5F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29100"/>
            <a:ext cx="1790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1.78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314D9-4BA6-4C06-84F9-CB3BF473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81525"/>
            <a:ext cx="17907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ice refractive index n_ice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5F773-BF02-4EA8-BA13-77BAC83C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14800"/>
            <a:ext cx="2343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272B8-6F96-407E-847C-613B660C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29100"/>
            <a:ext cx="20383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66A3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D66A35"/>
                </a:solidFill>
                <a:latin typeface="Aptos Display"/>
                <a:ea typeface="Aptos Display"/>
                <a:cs typeface="Aptos Display"/>
              </a:rPr>
              <a:t>438 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F3667-84BD-4F95-ABC8-59240847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81525"/>
            <a:ext cx="20383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predicted apparent depth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4FB7C-E597-4207-BA1A-62C1ADB5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14800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F907B-9D24-441E-B829-8580A8C0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29100"/>
            <a:ext cx="1409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D7C7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D7C7B"/>
                </a:solidFill>
                <a:latin typeface="Aptos Display"/>
                <a:ea typeface="Aptos Display"/>
                <a:cs typeface="Aptos Display"/>
              </a:rPr>
              <a:t>5.21 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8165C-A9E9-4AB9-AAB2-6B91C5EB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81525"/>
            <a:ext cx="14097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extra two-way delay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A2E61B-5A81-44F9-9BE9-930AB3EC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29D63-D26B-41FC-944E-6D7C4023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191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Sources: config.yaml, integrated_nadir_offnadir_graphs/summary.json, REASON paper parameter extraction.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A5AF3F-06DA-4F3B-BED2-46EF3FE1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1954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B9F5FA94-164A-4EEE-A6E5-59E6B4C3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35"/>
          </a:solidFill>
          <a:ln xmlns:a="http://schemas.openxmlformats.org/drawingml/2006/main" w="0">
            <a:solidFill>
              <a:srgbClr val="D66A35"/>
            </a:solidFill>
          </a:ln>
        </p:spPr>
      </p:sp>
      <p:sp>
        <p:nvSpPr>
          <p:cNvPr id="2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7977D947-E3F0-47DF-87BF-4A1BEBDE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GEOMETRY MATH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D4E1B-B56A-436F-83FB-8819A33E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The 440 m depth comes from extra slant path, not true ice depth.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3A9C1-88EB-4F6E-8B41-F4264D48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9149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0">
            <a:solidFill>
              <a:srgbClr val="1424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1934E-E104-436F-868E-4FC3D66E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66A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66A35"/>
                </a:solidFill>
                <a:latin typeface="Aptos"/>
                <a:ea typeface="Aptos"/>
                <a:cs typeface="Aptos"/>
              </a:rPr>
              <a:t>Equation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9FB9F-B3B8-4C90-AC90-B7E762BC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4362450" cy="1466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0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R_slant = sqrt(h^2 + x^2)</a:t>
            </a:r>
          </a:p>
          <a:p xmlns:a="http://schemas.openxmlformats.org/drawingml/2006/main">
            <a:pPr algn="l">
              <a:defRPr sz="1950" b="0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0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Delta R = R_slant - h</a:t>
            </a:r>
          </a:p>
          <a:p xmlns:a="http://schemas.openxmlformats.org/drawingml/2006/main">
            <a:pPr algn="l">
              <a:defRPr sz="1950" b="0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0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d_app = Delta R / n_ice</a:t>
            </a:r>
          </a:p>
          <a:p xmlns:a="http://schemas.openxmlformats.org/drawingml/2006/main">
            <a:pPr algn="l">
              <a:defRPr sz="1950" b="0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0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Delta t = 2 Delta R / 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6BBC3-DE4D-4795-B82E-714B25B0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4095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EEF4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EEF4"/>
                </a:solidFill>
                <a:latin typeface="Aptos"/>
                <a:ea typeface="Aptos"/>
                <a:cs typeface="Aptos"/>
              </a:rPr>
              <a:t>Plug in h = 400 km, x = 25 km, n_ice = 1.78.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D29A8-73F0-4BEF-9677-3780D519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371475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8EEF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 i="0">
                <a:solidFill>
                  <a:srgbClr val="E8EEF4"/>
                </a:solidFill>
                <a:latin typeface="Cascadia Mono"/>
                <a:ea typeface="Cascadia Mono"/>
                <a:cs typeface="Cascadia Mono"/>
              </a:rPr>
              <a:t>R_slant = 400.781 km</a:t>
            </a:r>
          </a:p>
          <a:p xmlns:a="http://schemas.openxmlformats.org/drawingml/2006/main">
            <a:pPr algn="l">
              <a:defRPr sz="1200" b="0" i="0">
                <a:solidFill>
                  <a:srgbClr val="E8EEF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 i="0">
                <a:solidFill>
                  <a:srgbClr val="E8EEF4"/>
                </a:solidFill>
                <a:latin typeface="Cascadia Mono"/>
                <a:ea typeface="Cascadia Mono"/>
                <a:cs typeface="Cascadia Mono"/>
              </a:rPr>
              <a:t>Delta R = 780.4 m</a:t>
            </a:r>
          </a:p>
          <a:p xmlns:a="http://schemas.openxmlformats.org/drawingml/2006/main">
            <a:pPr algn="l">
              <a:defRPr sz="1200" b="0" i="0">
                <a:solidFill>
                  <a:srgbClr val="E8EEF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 i="0">
                <a:solidFill>
                  <a:srgbClr val="E8EEF4"/>
                </a:solidFill>
                <a:latin typeface="Cascadia Mono"/>
                <a:ea typeface="Cascadia Mono"/>
                <a:cs typeface="Cascadia Mono"/>
              </a:rPr>
              <a:t>d_app = 438.5 m</a:t>
            </a:r>
          </a:p>
          <a:p xmlns:a="http://schemas.openxmlformats.org/drawingml/2006/main">
            <a:pPr algn="l">
              <a:defRPr sz="1200" b="0" i="0">
                <a:solidFill>
                  <a:srgbClr val="E8EEF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 i="0">
                <a:solidFill>
                  <a:srgbClr val="E8EEF4"/>
                </a:solidFill>
                <a:latin typeface="Cascadia Mono"/>
                <a:ea typeface="Cascadia Mono"/>
                <a:cs typeface="Cascadia Mono"/>
              </a:rPr>
              <a:t>Delta t = 5.21 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ACEF7-B289-4FEE-9013-CDA8942E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9144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66A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66A35"/>
                </a:solidFill>
                <a:latin typeface="Aptos"/>
                <a:ea typeface="Aptos"/>
                <a:cs typeface="Aptos"/>
              </a:rPr>
              <a:t>slant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D5D42-4688-41B9-AB4C-922D9C1B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2457450" cy="-14668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66A3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BA731-98C4-485A-B0CE-EB64027A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0" cy="-1790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F5AA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2A269-14C7-4FE9-801A-D2853209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24574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D7C7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AEB32-2103-4CD9-AAAA-93195C7C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00300"/>
            <a:ext cx="97155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1F5AA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5AA6"/>
                </a:solidFill>
                <a:latin typeface="Aptos"/>
                <a:ea typeface="Aptos"/>
                <a:cs typeface="Aptos"/>
              </a:rPr>
              <a:t>h = 400 km</a:t>
            </a:r>
          </a:p>
          <a:p xmlns:a="http://schemas.openxmlformats.org/drawingml/2006/main">
            <a:pPr algn="r">
              <a:defRPr sz="1125" b="0" i="0">
                <a:solidFill>
                  <a:srgbClr val="1F5AA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5AA6"/>
                </a:solidFill>
                <a:latin typeface="Aptos"/>
                <a:ea typeface="Aptos"/>
                <a:cs typeface="Aptos"/>
              </a:rPr>
              <a:t>vertical altitude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36F32-8C52-472F-89F6-B46450CB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52850"/>
            <a:ext cx="15049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D7C7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D7C7B"/>
                </a:solidFill>
                <a:latin typeface="Aptos"/>
                <a:ea typeface="Aptos"/>
                <a:cs typeface="Aptos"/>
              </a:rPr>
              <a:t>x = 25 km side offset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1E5B8-40AA-44B9-B8B2-BF64A44D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242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8FFDA-3051-4252-A96F-1FCAC585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radar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EF996-95F8-4242-86FA-3C659509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52850"/>
            <a:ext cx="13144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surface feature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E7B55-5498-4A09-BD98-87066266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3257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8C2D6-6342-4E93-9B80-129D9391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72000"/>
            <a:ext cx="2952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D7C7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D7C7B"/>
                </a:solidFill>
                <a:latin typeface="Aptos"/>
                <a:ea typeface="Aptos"/>
                <a:cs typeface="Aptos"/>
              </a:rPr>
              <a:t>WHAT EACH PART MEANS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DEE44-7013-4448-92F0-CCCA6A24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81550"/>
            <a:ext cx="295275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 is altitude. x is how far sideways the surface point is from nadir. R_slant is the longer path to that side point. Delta R is the extra one-way distance. Dividing by n_ice converts the delay into ice-equivalent apparent depth.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C835CE-E30D-4115-B649-9E72C7FB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4B412-6757-4FDB-BA28-2F867E24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191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Geometry uses h=400 km, x=25 km, n_ice=1.78. Apparent depth is ice-equivalent delay, not measured physical depth.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8E3EB-EFC4-4713-800A-AA780B16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01080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DDE3D72A-1987-4252-A15C-D266D3DB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35"/>
          </a:solidFill>
          <a:ln xmlns:a="http://schemas.openxmlformats.org/drawingml/2006/main" w="0">
            <a:solidFill>
              <a:srgbClr val="D66A35"/>
            </a:solidFill>
          </a:ln>
        </p:spPr>
      </p:sp>
      <p:sp>
        <p:nvSpPr>
          <p:cNvPr id="2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F549B8BD-37C5-4EA9-B59D-FF66EA0E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KEY GRAPH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48F28-5008-4BB6-A723-679327F5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The prediction is a U-shaped apparent-depth curve as the spacecraft passes the feature.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78C63-08A7-4796-82E0-D5B72230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72199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c374e57a94675"/>
          <a:stretch xmlns:a="http://schemas.openxmlformats.org/drawingml/2006/main"/>
        </p:blipFill>
        <p:spPr>
          <a:xfrm xmlns:a="http://schemas.openxmlformats.org/drawingml/2006/main">
            <a:off x="685800" y="1752600"/>
            <a:ext cx="702945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AF5FD-1914-4DE6-9C15-E3A91C50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2724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42713-4F24-477B-8276-5088D445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05000"/>
            <a:ext cx="24193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F5AA6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F5AA6"/>
                </a:solidFill>
                <a:latin typeface="Aptos"/>
                <a:ea typeface="Aptos"/>
                <a:cs typeface="Aptos"/>
              </a:rPr>
              <a:t>X-AXIS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E5701-518A-4EEE-863F-E2E8C801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2419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Satellite position left-to-right past the surface feature. Zero is closest approach.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C27EA-69EC-4FD0-AA36-D025921D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724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DE5C4-4B6E-4AC2-9D94-BAEB747D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24193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66A3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66A35"/>
                </a:solidFill>
                <a:latin typeface="Aptos"/>
                <a:ea typeface="Aptos"/>
                <a:cs typeface="Aptos"/>
              </a:rPr>
              <a:t>Y-AXIS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04CEE-2C20-413C-A350-D1918AF2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241935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Apparent depth or late echo. Larger values mean the return arrived later and would plot deeper.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B5C70-8BE7-4BC6-882A-722EAEA5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24300"/>
            <a:ext cx="2724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DC8FB-C772-4D4F-83FD-F29BED0C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38600"/>
            <a:ext cx="24193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66A3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66A35"/>
                </a:solidFill>
                <a:latin typeface="Aptos"/>
                <a:ea typeface="Aptos"/>
                <a:cs typeface="Aptos"/>
              </a:rPr>
              <a:t>ORANGE CURVE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5057D-0025-40E1-B7AB-BB7E003A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2419350" cy="704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off-nadir surface echo is shallowest near closest approach and deeper away from it, producing the U shape.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F82AB-37AA-4D87-AB42-ACFBCC3A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2724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BFC6B-0A63-41B5-9534-2041744B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34000"/>
            <a:ext cx="24193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66A3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D66A35"/>
                </a:solidFill>
                <a:latin typeface="Aptos Display"/>
                <a:ea typeface="Aptos Display"/>
                <a:cs typeface="Aptos Display"/>
              </a:rPr>
              <a:t>438 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D24147-B80D-42F4-B117-4D8448D6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86425"/>
            <a:ext cx="24193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minimum apparent depth at closest approach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755E3-4943-4474-A48D-10429BCB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D4BA6-C52B-45CE-BA21-039042A4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191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Source graph: integrated_nadir_offnadir_graphs/01_apparent_depth_nadir_vs_offnadir.png.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BED93-B097-473D-966B-3D6812B3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3339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F0EE5CC6-6B30-45C1-97FD-174C2C9B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35"/>
          </a:solidFill>
          <a:ln xmlns:a="http://schemas.openxmlformats.org/drawingml/2006/main" w="0">
            <a:solidFill>
              <a:srgbClr val="D66A35"/>
            </a:solidFill>
          </a:ln>
        </p:spPr>
      </p:sp>
      <p:sp>
        <p:nvSpPr>
          <p:cNvPr id="2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FDA69AB4-E874-4AB3-B49E-E84D6C65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RADARGRAM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2C29C-9647-407E-97E7-880A0112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In radargram form, the off-nadir echo should curve while the nadir echo stays flat.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14B26-8C82-49B7-AED5-A1705E82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5057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a2a126dde4794"/>
          <a:stretch xmlns:a="http://schemas.openxmlformats.org/drawingml/2006/main"/>
        </p:blipFill>
        <p:spPr>
          <a:xfrm xmlns:a="http://schemas.openxmlformats.org/drawingml/2006/main">
            <a:off x="647700" y="1676400"/>
            <a:ext cx="7315200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2A8FF-DBF9-4915-9733-B39FE22E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9070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17DDC-AAE3-4BE7-9F0F-A39E0553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552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66A3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66A35"/>
                </a:solidFill>
                <a:latin typeface="Aptos"/>
                <a:ea typeface="Aptos"/>
                <a:cs typeface="Aptos"/>
              </a:rPr>
              <a:t>WHAT TO SAY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94939-4A65-4607-8A4A-D7C34256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55270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If this is clutter, the feature is not physically buried at the plotted depth. It looks deep because the wave traveled extra distance to a side-looking surface point.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40DE4-D334-4A32-97A7-A4AC397D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C02C8-3FB7-43FD-A5DE-1F8F8A99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552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D7C7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D7C7B"/>
                </a:solidFill>
                <a:latin typeface="Aptos"/>
                <a:ea typeface="Aptos"/>
                <a:cs typeface="Aptos"/>
              </a:rPr>
              <a:t>WHY THE CURVE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C98F3-EF52-4265-8419-44124E2E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55270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shape is tied to view geometry. The echo is shallowest when the spacecraft is closest to the side feature, then shifts deeper as the spacecraft moves away.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DB4BC-BED6-45E1-8F8D-03AA3660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12DFE-D779-481A-86AE-4686EF3D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2552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F5AA6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F5AA6"/>
                </a:solidFill>
                <a:latin typeface="Aptos"/>
                <a:ea typeface="Aptos"/>
                <a:cs typeface="Aptos"/>
              </a:rPr>
              <a:t>PROFESSOR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D5334-C67F-4BC6-9512-EE939CF4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86350"/>
            <a:ext cx="25527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real subsurface layer should not automatically trace this symmetric geometry around a surface feature.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26C81-750F-4BFF-BEDE-6EF17F38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C4375-DA1A-4625-B626-B1391A8E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191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Source graph: integrated_nadir_offnadir_graphs/09_radargram_style_nadir_vs_offnadir.png.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7AA5C-63E6-4BDD-AAE6-DD8CE5A3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0121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F94D423B-6E64-453A-8640-5B2B47BF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35"/>
          </a:solidFill>
          <a:ln xmlns:a="http://schemas.openxmlformats.org/drawingml/2006/main" w="0">
            <a:solidFill>
              <a:srgbClr val="D66A35"/>
            </a:solidFill>
          </a:ln>
        </p:spPr>
      </p:sp>
      <p:sp>
        <p:nvSpPr>
          <p:cNvPr id="2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DB75176D-0E76-45EA-B805-90F83A0A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TESTABLE SIGNATURE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BEC9F-03F4-4000-8B57-3BA5C098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Interferometry should point sideways, not straight down, if the candidate is clutter.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A232A-D3EC-4C27-93B4-6212BE39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4866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0525eef8a4466"/>
          <a:stretch xmlns:a="http://schemas.openxmlformats.org/drawingml/2006/main"/>
        </p:blipFill>
        <p:spPr>
          <a:xfrm xmlns:a="http://schemas.openxmlformats.org/drawingml/2006/main">
            <a:off x="647700" y="1676400"/>
            <a:ext cx="7296150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3D4EC-9457-4DF2-968E-5724B037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A1004-FED6-4DF1-BDE1-76D7104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28800"/>
            <a:ext cx="2171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66A3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D66A35"/>
                </a:solidFill>
                <a:latin typeface="Aptos Display"/>
                <a:ea typeface="Aptos Display"/>
                <a:cs typeface="Aptos Display"/>
              </a:rPr>
              <a:t>25.04 km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4E012-DFD1-4369-8733-09692173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81225"/>
            <a:ext cx="21717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offset required by 440 m geometry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EF146-BD8A-496E-8EE3-3A0832DD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B5F5F-87D1-4661-A4AF-56CDD52C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38450"/>
            <a:ext cx="2171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D7C7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D7C7B"/>
                </a:solidFill>
                <a:latin typeface="Aptos Display"/>
                <a:ea typeface="Aptos Display"/>
                <a:cs typeface="Aptos Display"/>
              </a:rPr>
              <a:t>25.09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69DA3-4303-45FB-8233-D5FDCEEE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90875"/>
            <a:ext cx="21717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mean interferometry offset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0D68A-1369-4E2F-AABF-52EE73FC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4B643-52BC-45E4-AF20-D058E20E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2171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D7C7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D7C7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98895-B5E0-4780-98C2-CBC2636C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1009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measured lateral offset sits near the offset predicted by the math. That is exactly what I would expect if the apparent layer is a side-looking surface return.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4E36D-D51D-4BB5-BF47-273DBA45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911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C2E63-5D10-449A-839B-802A097C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505450"/>
            <a:ext cx="2171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B3A2E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9B3A2E"/>
                </a:solidFill>
                <a:latin typeface="Aptos"/>
                <a:ea typeface="Aptos"/>
                <a:cs typeface="Aptos"/>
              </a:rPr>
              <a:t>WHAT WOULD WEAKEN 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BD397-E838-4B6B-9273-531C848C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15000"/>
            <a:ext cx="21717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If VHF phase stayed near zero and the offset did not match the surface geometry, the clutter explanation would be much less convincing.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D0432-B4B9-411C-8F35-37A540F1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15B3F-3455-4229-B003-DCD15464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191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Source graph: question_graphs_clean/04_interferometry_offset_along_track.png; summary offset values from question_graphs_clean/summary.json.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9EB8A-EC5C-49A0-981C-64741FDF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44359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D40E3C0F-E922-4C83-9EFD-4CD050EE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35"/>
          </a:solidFill>
          <a:ln xmlns:a="http://schemas.openxmlformats.org/drawingml/2006/main" w="0">
            <a:solidFill>
              <a:srgbClr val="D66A35"/>
            </a:solidFill>
          </a:ln>
        </p:spPr>
      </p:sp>
      <p:sp>
        <p:nvSpPr>
          <p:cNvPr id="2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06628747-C638-4B54-85C6-6E069EBD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EVIDENCE BALANCE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1BE36-3284-4FB4-A3E5-D1153814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The model is not proof by itself, but most independent checks point toward clutter.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95F42-87D9-4828-A723-FF84A442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572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Verdict from local tests: probable clutter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05237-9670-4987-8C6D-CC275D78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7239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Four tests support off-nadir geometry. One test says a subsurface reflector is detectable in principle, so it is not impossible.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F08B1-817F-4AE3-9534-CCE73C3C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982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6362A-05E4-4E1F-BE16-CEB7A06D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35"/>
          </a:solidFill>
          <a:ln xmlns:a="http://schemas.openxmlformats.org/drawingml/2006/main" w="0">
            <a:solidFill>
              <a:srgbClr val="D66A3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D85B8-18FA-4FD8-9F4E-34A7F115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2038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Cluttergram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4FE44-02E0-4682-B6A2-4C6B55F2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62250"/>
            <a:ext cx="13716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66A3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D66A35"/>
                </a:solidFill>
                <a:latin typeface="Aptos"/>
                <a:ea typeface="Aptos"/>
                <a:cs typeface="Aptos"/>
              </a:rPr>
              <a:t>clutter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684D2-5991-4931-BA1E-E1380DC3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3200"/>
            <a:ext cx="5581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Candidate window has a coherent counterpart in the DEM-only cluttergram.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D9341-2E2C-49C4-BB0A-D5B03CE5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982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3EA80-F677-4CE6-8019-79200C66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B"/>
          </a:solidFill>
          <a:ln xmlns:a="http://schemas.openxmlformats.org/drawingml/2006/main" w="0">
            <a:solidFill>
              <a:srgbClr val="0D7C7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FB8CC-62B7-4014-9535-877CEA1B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038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Interferometry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0724E-62CC-44E1-B46B-84D475A9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29000"/>
            <a:ext cx="13716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D7C7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D7C7B"/>
                </a:solidFill>
                <a:latin typeface="Aptos"/>
                <a:ea typeface="Aptos"/>
                <a:cs typeface="Aptos"/>
              </a:rPr>
              <a:t>clutter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89A8A-6F17-4EBE-A51D-77707985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5581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Candidate-bin phase maps to the expected off-nadir surface offset.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332E6-3D05-4E87-BE37-5402DF97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982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9C7B0-1143-43B7-ACA2-CCF4CC55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35"/>
          </a:solidFill>
          <a:ln xmlns:a="http://schemas.openxmlformats.org/drawingml/2006/main" w="0">
            <a:solidFill>
              <a:srgbClr val="D66A3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0249D-A01E-4DCC-8BEA-FB698B88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2038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Crossovers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46DD65-BFDC-4CC7-A97A-14D6FCEF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95750"/>
            <a:ext cx="13716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66A3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D66A35"/>
                </a:solidFill>
                <a:latin typeface="Aptos"/>
                <a:ea typeface="Aptos"/>
                <a:cs typeface="Aptos"/>
              </a:rPr>
              <a:t>clutter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53D29-4767-4847-961F-64414A53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5581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Apparent depths disagree by several range cells, consistent with view-dependent clutter.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83DD9-9BE3-4AFB-BF60-3787050A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982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7B8BD0-4713-4D66-984D-7E4C775F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B"/>
          </a:solidFill>
          <a:ln xmlns:a="http://schemas.openxmlformats.org/drawingml/2006/main" w="0">
            <a:solidFill>
              <a:srgbClr val="0D7C7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A5AA7E-E2D6-4602-B74F-A05BB9DC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2038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Bias 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E9444-5C28-4891-B2A5-052441D8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62500"/>
            <a:ext cx="13716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D7C7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D7C7B"/>
                </a:solidFill>
                <a:latin typeface="Aptos"/>
                <a:ea typeface="Aptos"/>
                <a:cs typeface="Aptos"/>
              </a:rPr>
              <a:t>clutter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00A61A-D433-4E0C-91AE-F76854C9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43450"/>
            <a:ext cx="5581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A DEM feature exists at the lateral offset required by the observed apparent depth.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482B7-76C5-4C30-8C3C-D7194276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982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BE8CB8-7C88-4C22-887F-39192A90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A2E"/>
          </a:solidFill>
          <a:ln xmlns:a="http://schemas.openxmlformats.org/drawingml/2006/main" w="0">
            <a:solidFill>
              <a:srgbClr val="9B3A2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EDBAB8-ED3E-4556-859A-00C5D546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2038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Blind zone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4C242A-7EDF-4C72-B583-CC46C238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29250"/>
            <a:ext cx="13716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B3A2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9B3A2E"/>
                </a:solidFill>
                <a:latin typeface="Aptos"/>
                <a:ea typeface="Aptos"/>
                <a:cs typeface="Aptos"/>
              </a:rPr>
              <a:t>subsurface possible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D113E5-B71A-47AE-AA40-B2A17F7F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10200"/>
            <a:ext cx="5581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The candidate depth is outside the measured blind zone and could be detectable.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2BE76F-6405-4EE6-B5E6-8CFEB611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34315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D66A3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D66A35"/>
                </a:solidFill>
                <a:latin typeface="Aptos Display"/>
                <a:ea typeface="Aptos Display"/>
                <a:cs typeface="Aptos Display"/>
              </a:rPr>
              <a:t>My cautious wording: probably clutter, not definitely clutter.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130CCB-2C9C-4F05-8C2E-B3AEA2F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589C9-5E0C-445C-AE43-ADFB9504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191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Source: reason_outputs/verdict_report.txt.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8B24A4-4C5B-4344-831A-6A4856DC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247878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2942100A-6EC4-4052-BE43-251F3298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35"/>
          </a:solidFill>
          <a:ln xmlns:a="http://schemas.openxmlformats.org/drawingml/2006/main" w="0">
            <a:solidFill>
              <a:srgbClr val="D66A35"/>
            </a:solidFill>
          </a:ln>
        </p:spPr>
      </p:sp>
      <p:sp>
        <p:nvSpPr>
          <p:cNvPr id="2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B9FB49DB-F043-4EB6-93A0-FF41D410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PROFESSOR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73054-D116-48CA-BF64-4711D475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I would present this as a prediction with clear ways to prove me wrong.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B01EE-D35B-4322-8ACA-B8F2544F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590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0">
            <a:solidFill>
              <a:srgbClr val="1424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90763-AE8D-4884-995D-38964C8E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905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66A3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D66A35"/>
                </a:solidFill>
                <a:latin typeface="Aptos"/>
                <a:ea typeface="Aptos"/>
                <a:cs typeface="Aptos"/>
              </a:rPr>
              <a:t>Short explanation I can say out loud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C58AB-3984-400D-8B75-8847899A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5334000" cy="2152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 think the 440 m candidate is probably an off-nadir surface echo. At 400 km altitude, a surface point 25 km to the side adds about 780 m of one-way slant range. When the radar interprets that delay through ice with n_ice = 1.78, it becomes about 438 m of apparent depth. As the spacecraft passes the feature, that extra distance changes, so the false reflector should curve in the radargram. VHF interferometry should also show nonzero phase and recover a lateral offset near 25 km.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0AEE8-B9A0-4BDE-AD2A-B56699E3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2A57E-1035-4381-ADBC-49282B6D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05000"/>
            <a:ext cx="20193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D66A3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D66A35"/>
                </a:solidFill>
                <a:latin typeface="Aptos Display"/>
                <a:ea typeface="Aptos Display"/>
                <a:cs typeface="Aptos Display"/>
              </a:rPr>
              <a:t>Prediction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E1E2E-AFD4-401B-8874-8880E284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57425"/>
            <a:ext cx="20193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curved false layer near 438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39F94-EC6D-47A1-A32B-6C947EED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90700"/>
            <a:ext cx="1676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AA166-3713-4B09-8CA7-09B1C0C8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05000"/>
            <a:ext cx="13716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D7C7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D7C7B"/>
                </a:solidFill>
                <a:latin typeface="Aptos Display"/>
                <a:ea typeface="Aptos Display"/>
                <a:cs typeface="Aptos Display"/>
              </a:rPr>
              <a:t>Main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D782D-0E65-4091-B68F-10C5AA00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57425"/>
            <a:ext cx="13716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VHF phase gives side offset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DC5CA-9456-49D0-9CBC-8CF994F7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9900"/>
            <a:ext cx="4267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94865-AE70-4B34-B94F-B3CDB9D8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4200"/>
            <a:ext cx="39624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D7C7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D7C7B"/>
                </a:solidFill>
                <a:latin typeface="Aptos"/>
                <a:ea typeface="Aptos"/>
                <a:cs typeface="Aptos"/>
              </a:rPr>
              <a:t>WHAT WOULD SUPPORT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BDD4E-A370-4066-91A3-4D4D698C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39624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apparent layer curves with spacecraft position, interferometry maps it sideways, and crossovers disagree in depth.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3CDF7-1AAA-4F25-BB8F-C7F1896A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62450"/>
            <a:ext cx="4267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4D6F0-D6A3-421B-A02B-BBC5CE80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76750"/>
            <a:ext cx="39624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B3A2E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9B3A2E"/>
                </a:solidFill>
                <a:latin typeface="Aptos"/>
                <a:ea typeface="Aptos"/>
                <a:cs typeface="Aptos"/>
              </a:rPr>
              <a:t>WHAT WOULD CHANGE MY MIND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518E7-2BF0-4A5F-A6FA-30E982FB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86300"/>
            <a:ext cx="39624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Near-zero interferometric phase, consistent crossover depths, and no DEM feature at the required offset.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0B116-3735-49C1-9F05-1E2900B2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29300"/>
            <a:ext cx="8477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Bottom line: the graph is a geometry prediction, not a claim that the surface feature is actually 438 m below the 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25857-4CCF-485B-B32D-A9C0D1F0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5C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08DF0A-8128-4B91-93B6-D9683E31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191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Conclusion synthesized from local model outputs and evidence tests in reason_outputs/verdict_report.txt.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77091-3606-426F-8D6F-0F7F8871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8F6F1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B667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B66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70957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2026-06-04T01:10:54.7940000Z</dcterms:created>
  <dcterms:modified xsi:type="dcterms:W3CDTF">2026-06-04T01:10:54.7940000Z</dcterms:modified>
</coreProperties>
</file>