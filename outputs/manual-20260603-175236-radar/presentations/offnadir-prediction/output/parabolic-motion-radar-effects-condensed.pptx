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539bdb0c974985" /><Relationship Type="http://schemas.openxmlformats.org/officeDocument/2006/relationships/extended-properties" Target="/docProps/app.xml" Id="R5a6bc0400d854023" /><Relationship Type="http://schemas.openxmlformats.org/officeDocument/2006/relationships/officeDocument" Target="/ppt/presentation.xml" Id="R04d0c4be80ae43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729a5ee024d5e"/>
  </p:sldMasterIdLst>
  <p:notesMasterIdLst>
    <p:notesMasterId xmlns:r="http://schemas.openxmlformats.org/officeDocument/2006/relationships" r:id="R778e533739a44c28"/>
  </p:notesMasterIdLst>
  <p:sldIdLst>
    <p:sldId xmlns:r="http://schemas.openxmlformats.org/officeDocument/2006/relationships" id="256" r:id="R9cd489bb5a234860"/>
    <p:sldId xmlns:r="http://schemas.openxmlformats.org/officeDocument/2006/relationships" id="257" r:id="R9b3942df52e24322"/>
    <p:sldId xmlns:r="http://schemas.openxmlformats.org/officeDocument/2006/relationships" id="258" r:id="R67627b105704486c"/>
    <p:sldId xmlns:r="http://schemas.openxmlformats.org/officeDocument/2006/relationships" id="259" r:id="Ra5d56c9ac4814665"/>
    <p:sldId xmlns:r="http://schemas.openxmlformats.org/officeDocument/2006/relationships" id="260" r:id="Re685ac2c360b468a"/>
    <p:sldId xmlns:r="http://schemas.openxmlformats.org/officeDocument/2006/relationships" id="261" r:id="Rf2c3232939f146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31c2a616ba433a" /><Relationship Type="http://schemas.openxmlformats.org/officeDocument/2006/relationships/slideMaster" Target="/ppt/slideMasters/slideMaster1.xml" Id="R21d729a5ee024d5e" /><Relationship Type="http://schemas.openxmlformats.org/officeDocument/2006/relationships/notesMaster" Target="/ppt/notesMasters/notesMaster1.xml" Id="R778e533739a44c28" /><Relationship Type="http://schemas.openxmlformats.org/officeDocument/2006/relationships/presProps" Target="/ppt/presProps.xml" Id="R16e06cad2f514ead" /><Relationship Type="http://schemas.openxmlformats.org/officeDocument/2006/relationships/viewProps" Target="/ppt/viewProps.xml" Id="Rff18705c37da44cd" /><Relationship Type="http://schemas.openxmlformats.org/officeDocument/2006/relationships/tableStyles" Target="/ppt/tableStyles.xml" Id="Rf1ac18d3f6ca4f7b" /><Relationship Type="http://schemas.openxmlformats.org/officeDocument/2006/relationships/slide" Target="/ppt/slides/slide1.xml" Id="R9cd489bb5a234860" /><Relationship Type="http://schemas.openxmlformats.org/officeDocument/2006/relationships/slide" Target="/ppt/slides/slide2.xml" Id="R9b3942df52e24322" /><Relationship Type="http://schemas.openxmlformats.org/officeDocument/2006/relationships/slide" Target="/ppt/slides/slide3.xml" Id="R67627b105704486c" /><Relationship Type="http://schemas.openxmlformats.org/officeDocument/2006/relationships/slide" Target="/ppt/slides/slide4.xml" Id="Ra5d56c9ac4814665" /><Relationship Type="http://schemas.openxmlformats.org/officeDocument/2006/relationships/slide" Target="/ppt/slides/slide5.xml" Id="Re685ac2c360b468a" /><Relationship Type="http://schemas.openxmlformats.org/officeDocument/2006/relationships/slide" Target="/ppt/slides/slide6.xml" Id="Rf2c3232939f146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cf2fc4f1204e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e2ec91d8f46cf" /><Relationship Type="http://schemas.openxmlformats.org/officeDocument/2006/relationships/notesMaster" Target="/ppt/notesMasters/notesMaster1.xml" Id="R257eaae5227f40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786fa1a82b44ec" /><Relationship Type="http://schemas.openxmlformats.org/officeDocument/2006/relationships/notesMaster" Target="/ppt/notesMasters/notesMaster1.xml" Id="R1306d94a6ca7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7983401a44eac" /><Relationship Type="http://schemas.openxmlformats.org/officeDocument/2006/relationships/notesMaster" Target="/ppt/notesMasters/notesMaster1.xml" Id="R5a8357445af34f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efb7a72ad4499" /><Relationship Type="http://schemas.openxmlformats.org/officeDocument/2006/relationships/notesMaster" Target="/ppt/notesMasters/notesMaster1.xml" Id="R3bcd05d72d1940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419bf5f7ee4351" /><Relationship Type="http://schemas.openxmlformats.org/officeDocument/2006/relationships/notesMaster" Target="/ppt/notesMasters/notesMaster1.xml" Id="R44673b9b15ce42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4f77a5a62c4fc5" /><Relationship Type="http://schemas.openxmlformats.org/officeDocument/2006/relationships/notesMaster" Target="/ppt/notesMasters/notesMaster1.xml" Id="R65e14254718c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4cec8a2a0642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117443b4204673" /><Relationship Type="http://schemas.openxmlformats.org/officeDocument/2006/relationships/slideLayout" Target="/ppt/slideLayouts/slideLayout1.xml" Id="R2e23805592e744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23805592e744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381116481429b" /><Relationship Type="http://schemas.openxmlformats.org/officeDocument/2006/relationships/notesSlide" Target="/ppt/notesSlides/notesSlide1.xml" Id="R1e780e91b92a43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ce4dba5824d76" /><Relationship Type="http://schemas.openxmlformats.org/officeDocument/2006/relationships/image" Target="/ppt/media/image.png" Id="R9594ecbc7c8b45d1" /><Relationship Type="http://schemas.openxmlformats.org/officeDocument/2006/relationships/notesSlide" Target="/ppt/notesSlides/notesSlide2.xml" Id="Rea288cbd1d5340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ea5ff4e3549ab" /><Relationship Type="http://schemas.openxmlformats.org/officeDocument/2006/relationships/notesSlide" Target="/ppt/notesSlides/notesSlide3.xml" Id="R6fdff7d8d5214d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b699ebc804f48" /><Relationship Type="http://schemas.openxmlformats.org/officeDocument/2006/relationships/notesSlide" Target="/ppt/notesSlides/notesSlide4.xml" Id="Rc5e2dd366df747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15ddff5a48b0" /><Relationship Type="http://schemas.openxmlformats.org/officeDocument/2006/relationships/notesSlide" Target="/ppt/notesSlides/notesSlide5.xml" Id="R24baf5fef9464e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438b0ea2641b1" /><Relationship Type="http://schemas.openxmlformats.org/officeDocument/2006/relationships/notesSlide" Target="/ppt/notesSlides/notesSlide6.xml" Id="Redc5843a2b184f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73E18-8A60-40FD-8255-0F72D7F1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815D5-2036-4695-B254-DC08515F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8CDF9FE8-5305-4FBD-B2AB-836F06E7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76C0C404-19B7-4097-80A9-C70F60A3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6"/>
                </a:solidFill>
                <a:latin typeface="Aptos"/>
                <a:ea typeface="Aptos"/>
                <a:cs typeface="Aptos"/>
              </a:rPr>
              <a:t>CONDENSED VIEWPOINT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C1DD3-D8CD-41FE-B9AD-17BC871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3AEA9-0CD4-45BC-A2BB-9E5C2AD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problem is simpler than the graph pile made it look.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C69F1-0156-4138-8259-0DD9E369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DDE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DDE0"/>
                </a:solidFill>
                <a:latin typeface="Aptos"/>
                <a:ea typeface="Aptos"/>
                <a:cs typeface="Aptos"/>
              </a:rPr>
              <a:t>We are asking what radar measurements do when the spacecraft/object moves along a parabolic path past a target.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5460D-4C9C-48FD-88BF-B76010A6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A46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F8B6C-CB15-428A-A927-641F21B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424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4242"/>
                </a:solidFill>
                <a:latin typeface="Aptos"/>
                <a:ea typeface="Aptos"/>
                <a:cs typeface="Aptos"/>
              </a:rPr>
              <a:t>NOT THE MAIN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59E3A-DC31-411A-8FA4-C124AF9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Is it water?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50C98-8CE1-493E-8610-1224F888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0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0D6"/>
                </a:solidFill>
                <a:latin typeface="Aptos"/>
                <a:ea typeface="Aptos"/>
                <a:cs typeface="Aptos"/>
              </a:rPr>
              <a:t>That could be a later interpretation, but it is not the first thing this model answers.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61038-DA07-4419-9801-70A5C0C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A46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A7310-9615-4AC9-9B74-4C6BB2D4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077D9F-5826-4E8C-8C20-2618925C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814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changes?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1E232-B8CF-40BB-BE7D-237CFBE3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96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0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0D6"/>
                </a:solidFill>
                <a:latin typeface="Aptos"/>
                <a:ea typeface="Aptos"/>
                <a:cs typeface="Aptos"/>
              </a:rPr>
              <a:t>Range changes first. Delay, apparent depth, phase, Doppler, and PRF follow from that.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1B923-3023-4562-99E1-0D3383FE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3238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A46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08D48-D228-4CF0-9846-038BBEDF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7C5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D7C59"/>
                </a:solidFill>
                <a:latin typeface="Aptos"/>
                <a:ea typeface="Aptos"/>
                <a:cs typeface="Aptos"/>
              </a:rPr>
              <a:t>DECK 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6D1BF-15F4-4A1E-9E5A-B08584A0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Explain the chain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620C6-C5D7-4F37-B120-55125063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D0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D0D6"/>
                </a:solidFill>
                <a:latin typeface="Aptos"/>
                <a:ea typeface="Aptos"/>
                <a:cs typeface="Aptos"/>
              </a:rPr>
              <a:t>Use fewer graphs and show how to interpret the outputs.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7921F-557E-4619-8D7F-E5F860D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876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0C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0C5"/>
                </a:solidFill>
                <a:latin typeface="Aptos"/>
                <a:ea typeface="Aptos"/>
                <a:cs typeface="Aptos"/>
              </a:rPr>
              <a:t>Talk track: one path creates one changing distance, and that changing distance creates the radar effects.</a:t>
            </a:r>
          </a:p>
        </p:txBody>
      </p:sp>
    </p:spTree>
    <p:extLst>
      <p:ext uri="{BB962C8B-B14F-4D97-AF65-F5344CB8AC3E}">
        <p14:creationId xmlns:p14="http://schemas.microsoft.com/office/powerpoint/2010/main" val="8405278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96EFDD-3387-44DD-A038-EE1AA0C6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AD2C7-0042-4444-9B6D-8FAC7B5F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D7B2A364-18CC-438F-BCC9-0AF5625A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F901BD19-52A5-4EFD-85E3-C3760D46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GEOMETRY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9FE8-6225-45D9-9E9A-02A254CC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39191-1AE1-4EF6-8867-931F31E0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One simplified geometry replaces most of the repeated plots.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4ecbc7c8b45d1"/>
          <a:stretch xmlns:a="http://schemas.openxmlformats.org/drawingml/2006/main"/>
        </p:blipFill>
        <p:spPr>
          <a:xfrm xmlns:a="http://schemas.openxmlformats.org/drawingml/2006/main">
            <a:off x="2187949" y="1381125"/>
            <a:ext cx="7816103" cy="4429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2B8B5-F0E6-4B95-AF78-76FC7F1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Condensed interpretation deck; values from local parabolic-motion graph summaries.</a:t>
            </a:r>
          </a:p>
        </p:txBody>
      </p:sp>
    </p:spTree>
    <p:extLst>
      <p:ext uri="{BB962C8B-B14F-4D97-AF65-F5344CB8AC3E}">
        <p14:creationId xmlns:p14="http://schemas.microsoft.com/office/powerpoint/2010/main" val="7389178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07F27-BDE7-4EF0-A461-7BCFA82A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B193D-C74E-4C5A-B23E-DFB30D8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1361758F-4BAA-48AF-8AFB-169DBAB2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9940CCF-8CDE-4CD7-82B7-62ED7EA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FORMULA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9438E-C83A-4A19-B81B-A2EBFE70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34428-004F-4915-94BA-AEAAEBF5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interpretation comes from one dependency chain.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CD4C3-6EB3-4B11-A14C-921F2A4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981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C8C03-0948-4E20-A45D-EECF4C6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6F8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6F8E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FE1B1-F147-4D25-97AD-C061EF9A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1638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z(x)=z0+a*x^2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681F4-2256-41DB-9EC6-CE892C77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The parabola describes how altitude changes near closest approach.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F505C-019E-463F-A05D-4DE0F23B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2CF55-0C43-4A03-89ED-8FB81D2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266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583F2-F29F-410E-8780-168BD02F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B8C310-D848-4D44-98DC-7E2EBA2A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93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R=sqrt(x^2+y^2+z^2)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10EAC-EF8A-45B1-8981-9A0CEDD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This is the distance from spacecraft/object to the target.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EFAA9-F13F-44AA-86A2-802B721E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9075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749B3-3B40-40A4-B896-60913F40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2266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E5251-6EB6-4AD4-803F-3CEF785D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1924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7C5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D7C59"/>
                </a:solidFill>
                <a:latin typeface="Aptos"/>
                <a:ea typeface="Aptos"/>
                <a:cs typeface="Aptos"/>
              </a:rPr>
              <a:t>RANGE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97C1C-2C83-44FC-A81A-C613E346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9300"/>
            <a:ext cx="1924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dR/dt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91DDF-9D63-46CF-A274-E7398004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192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How quickly the distance changes as it moves.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AD89A-DDF3-47B0-BFA4-11FB697D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957287-1209-47F9-81CD-53F3B3D9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76400"/>
            <a:ext cx="2095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3EB52-0715-46EA-9426-C40500B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424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4242"/>
                </a:solidFill>
                <a:latin typeface="Aptos"/>
                <a:ea typeface="Aptos"/>
                <a:cs typeface="Aptos"/>
              </a:rPr>
              <a:t>DOPPLER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3B598-AB31-45B2-A224-4D06CE60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193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fD=-2(dR/dt)/lambda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2C20D-60DC-4277-B936-A52228AE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752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Motion turns range-rate into a frequency shift.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98776-06CE-4AB7-820A-00F060E9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086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91073-2CA3-435F-96B2-82E1CB7F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ECHO TIMING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68434-D036-47D0-A4CF-23FE63EA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 = 2R/c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E0F65-D69C-478B-BD64-12C8FAAF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Longer range means the echo arrives later.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F3DA4-E164-400E-8E36-D9A6D3FC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3086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B47623-1D6A-417B-9D1C-5ABDE8E8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052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6F8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6F8E"/>
                </a:solidFill>
                <a:latin typeface="Aptos"/>
                <a:ea typeface="Aptos"/>
                <a:cs typeface="Aptos"/>
              </a:rPr>
              <a:t>APPARENT DEPTH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40D363-3556-4C3B-A9A7-BD51648C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d=(Roff-Rnadir)/n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436F3C-BCA4-4CDE-8F02-26A02083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529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Extra path can look like vertical depth in the radargram.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B6CA65-0C1C-43FF-9DE5-02985E09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3086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70665-B439-4CBE-8B7F-4E9E2C4E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05250"/>
            <a:ext cx="274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7C5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D7C59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27083B-8AE6-4A82-91F5-D38E31FA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phase ~ y/R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0B7691-9063-4E77-8C58-06689ED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5295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Side-looking geometry can create nonzero interferometric phase.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3A303D-4A34-429D-97D2-A71BE55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Condensed interpretation deck; values from local parabolic-motion graph summaries.</a:t>
            </a:r>
          </a:p>
        </p:txBody>
      </p:sp>
    </p:spTree>
    <p:extLst>
      <p:ext uri="{BB962C8B-B14F-4D97-AF65-F5344CB8AC3E}">
        <p14:creationId xmlns:p14="http://schemas.microsoft.com/office/powerpoint/2010/main" val="2488975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E1BEE-55A7-44D9-B895-4EB2A728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DC1FE-A666-4B5F-ABEB-1254990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5BA11A7-3527-49BD-AED8-4F5FA720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ED13EDA5-FA42-4B04-A879-58D7FCB2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1837F-B341-4409-AB11-289C3A2C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FC340-B081-42D7-8800-F930A6D3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Read the outputs as symptoms of changing range.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2F69E-CD1F-4A32-9EFA-6563D8DD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Observable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25AC2-73E9-4DF6-912F-E1F8FE9F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66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What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097B8-EB61-46F8-A82F-61F331A7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447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FE10B-4CB6-4E38-BD5C-1FDF6248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52CEA-1A58-42E0-93C7-61345734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41808-9F07-4A74-942B-F11AF132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Gets shortest near closest approach.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9BE53-60CF-497F-B7DD-6A11837A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This is the source variable; everything else follows from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75509-2BF8-45EF-9605-766C1248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A7720-459D-43D3-BD82-232007CB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68CAD-6250-4D31-BE7D-5916EECD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Later echo when range is longer.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5BCE4-B08E-4551-934A-F9A884C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The radar sees distance as time because the pulse has to travel out and 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E26AE-88E9-423E-B3C7-22EF46A0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B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B9E86-E28D-4626-B67A-1E71847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Apparent depth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56077-E811-4483-9ADB-A2C07AD2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480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Extra path can appear as depth.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4D22D-316C-4FF2-A81F-AC23A012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480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A side path can be drawn as a deeper echo if interpreted as straight 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502D4-35A5-4A00-A495-2841D2E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1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58F17-1580-4CD5-BA65-5B34543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D9661-9EC0-4CCB-BC7B-948A4A45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291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Changes with look direction.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14C45-197B-426C-BD0C-032E643D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Interferometry can tell whether the echo is straight down or sideways.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C6D2B0-4B32-49F7-851F-10681D9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101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80DFD-81A3-4686-957F-03F4D491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Doppler / PRF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D88977-4685-48F1-B5D6-F70A4132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101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Doppler follows dR/dt; PRF must sample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55CCA-BD61-45A4-949A-589C3124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PRF is not caused by Doppler, but it must be high enough to avoid aliasing.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11914-8DCE-46A8-8731-B4CD586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Condensed interpretation deck; values from local parabolic-motion graph summaries.</a:t>
            </a:r>
          </a:p>
        </p:txBody>
      </p:sp>
    </p:spTree>
    <p:extLst>
      <p:ext uri="{BB962C8B-B14F-4D97-AF65-F5344CB8AC3E}">
        <p14:creationId xmlns:p14="http://schemas.microsoft.com/office/powerpoint/2010/main" val="16655358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9C119-0F94-44BD-A35B-AD4ACAE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C3834-5342-4327-B100-5A9FD33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16426B0E-AC3A-431A-AE90-68FB0356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ABC26422-C617-4E77-B75D-20DB14C7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COMPACT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A81FC-A1CE-413F-BC4B-45CD7817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3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E5E3C-3E65-4B4B-B5AE-42D171AD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The example values are anchors, not the whole 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A432-692E-4CD4-A8B6-CA119468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2057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A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2561F-BE70-4A14-B51A-FBA790A5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36F8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36F8E"/>
                </a:solidFill>
                <a:latin typeface="Aptos"/>
                <a:ea typeface="Aptos"/>
                <a:cs typeface="Aptos"/>
              </a:rPr>
              <a:t>APPARENT DEPTH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E5F1B-AAEC-4D94-A6B2-8322395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438.5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FE337-6A81-4983-9DD2-4FA804F9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A 25 km side path can map to about 440 m apparent depth.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8F555-E97E-411C-ADFD-0EE65A9F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90700"/>
            <a:ext cx="2057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A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727DD-C784-47A4-8959-8452CEF3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EXTRA DELAY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ED83E-F5D7-40ED-8DEE-F9486F4F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5.21 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458F8-E4AE-4B41-9C64-AD67B38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That same path difference is about 5.21 microseconds of extra two-way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B43DB-DA16-4767-B579-C696DCF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90700"/>
            <a:ext cx="2057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0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8208C-E956-40C0-ADD9-97BE11E8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2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7C5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D7C59"/>
                </a:solidFill>
                <a:latin typeface="Aptos"/>
                <a:ea typeface="Aptos"/>
                <a:cs typeface="Aptos"/>
              </a:rPr>
              <a:t>VHF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D2BB9-6B0B-4F7C-A1A7-F0729B74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22.5 deg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F0520-D08B-45A3-8909-3556BEF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051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Side-looking geometry predicts nonzero phase.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519AB-1218-403D-A14E-FA06C5D7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90700"/>
            <a:ext cx="2057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FE1632-7D23-4F25-A69E-3D241FE7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6424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64242"/>
                </a:solidFill>
                <a:latin typeface="Aptos"/>
                <a:ea typeface="Aptos"/>
                <a:cs typeface="Aptos"/>
              </a:rPr>
              <a:t>MAX DOPPLER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C7D03-A0C8-46F6-AA4A-0847C8FD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445 Hz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50476D-D64D-49DD-A54B-1700E1D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051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Motion creates a VHF Doppler shift over the aperture.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DD25D9-FC57-4107-845A-7B9ADDE7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90700"/>
            <a:ext cx="2057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AADD6-183B-464C-B3A5-20BB6B3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2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SIMPLE PRF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E57D5-E302-4997-AD81-5ACE4359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336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191D"/>
                </a:solidFill>
                <a:latin typeface="Aptos Display"/>
                <a:ea typeface="Aptos Display"/>
                <a:cs typeface="Aptos Display"/>
              </a:rPr>
              <a:t>890 Hz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84563-5A8E-459F-8067-0D32EB45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171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91D"/>
                </a:solidFill>
                <a:latin typeface="Aptos"/>
                <a:ea typeface="Aptos"/>
                <a:cs typeface="Aptos"/>
              </a:rPr>
              <a:t>A basic no-alias rule says PRF should exceed about twice the max Doppler.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CD957-7582-45DB-BC5A-C331025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23432-9479-44EB-A6C8-C0FBEDB7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191D"/>
                </a:solidFill>
                <a:latin typeface="Aptos"/>
                <a:ea typeface="Aptos"/>
                <a:cs typeface="Aptos"/>
              </a:rPr>
              <a:t>Better interpretation: do not treat each graph as a separate claim. Treat each one as a different measurement of the same geometry.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C7387-D8EF-4F8D-9797-1E8CFB6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If the geometry is right, the outputs should agree with each other instead of telling separate stories.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5BBF8-7B3C-4D8C-9FF9-B3296F8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Condensed interpretation deck; values from local parabolic-motion graph summaries.</a:t>
            </a:r>
          </a:p>
        </p:txBody>
      </p:sp>
    </p:spTree>
    <p:extLst>
      <p:ext uri="{BB962C8B-B14F-4D97-AF65-F5344CB8AC3E}">
        <p14:creationId xmlns:p14="http://schemas.microsoft.com/office/powerpoint/2010/main" val="7745058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C075E8-025F-402F-822B-4D62F264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01ACC-E211-4EEB-979D-F84493C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1EDAA849-F9DA-480A-A601-38B2F18E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A9B3BB4A-FD4A-4112-BC0A-5B42B938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6"/>
                </a:solidFill>
                <a:latin typeface="Aptos"/>
                <a:ea typeface="Aptos"/>
                <a:cs typeface="Aptos"/>
              </a:rPr>
              <a:t>WHAT IS MISSING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84EB9-28FB-4AD5-9514-35B8D60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33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D0D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AF3F4-13AB-4A54-AE46-255D2A6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would make this interpretation stronger?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CDDF9-BACC-4C26-9FA4-010BD068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DE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DE0"/>
                </a:solidFill>
                <a:latin typeface="Aptos"/>
                <a:ea typeface="Aptos"/>
                <a:cs typeface="Aptos"/>
              </a:rPr>
              <a:t>The parabolic model is useful, but it is still a simplified viewpoint. These are the pieces to check before overclaiming.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9B427-1120-4408-BF59-7B61954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A46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371D7-E351-4F13-BDC8-8C005E1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6B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6B2C"/>
                </a:solidFill>
                <a:latin typeface="Aptos"/>
                <a:ea typeface="Aptos"/>
                <a:cs typeface="Aptos"/>
              </a:rPr>
              <a:t>GEOMETRY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78DFA-06A0-49F1-84CD-56C27069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99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 we know the real path?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BC45D-47D8-4912-986F-CFED1BD3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990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4D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4D9"/>
                </a:solidFill>
                <a:latin typeface="Aptos"/>
                <a:ea typeface="Aptos"/>
                <a:cs typeface="Aptos"/>
              </a:rPr>
              <a:t>Actual trajectory, altitude at the observation time, ground track, pointing, and target location.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F46F1-A179-4C76-BC43-F2AF849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A46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93DE7-A02C-4FFE-ADE0-6542674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0B6C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0B6CC"/>
                </a:solidFill>
                <a:latin typeface="Aptos"/>
                <a:ea typeface="Aptos"/>
                <a:cs typeface="Aptos"/>
              </a:rPr>
              <a:t>RADAR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4F652-B636-420E-8511-E1B4E2B5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99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 settings support 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B7597-9FF0-4860-87CB-26415209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2990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4D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4D9"/>
                </a:solidFill>
                <a:latin typeface="Aptos"/>
                <a:ea typeface="Aptos"/>
                <a:cs typeface="Aptos"/>
              </a:rPr>
              <a:t>PRF, receive window, pulse compression, antenna pattern, phase calibration, and signal-to-noise.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ED5DF-6190-4762-910D-F8214731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027"/>
          </a:solidFill>
          <a:ln xmlns:a="http://schemas.openxmlformats.org/drawingml/2006/main" w="9525">
            <a:solidFill>
              <a:srgbClr val="3A46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1C0B5-2E0B-4C51-A08A-F1DE6ADC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FCE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FCE9D"/>
                </a:solidFill>
                <a:latin typeface="Aptos"/>
                <a:ea typeface="Aptos"/>
                <a:cs typeface="Aptos"/>
              </a:rPr>
              <a:t>ENVIRONMENT 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E0EBF-AFA0-4B8C-B011-2104F7D8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990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else changes range?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A9E80-97E7-48D5-A477-84260C4D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990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4D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4D9"/>
                </a:solidFill>
                <a:latin typeface="Aptos"/>
                <a:ea typeface="Aptos"/>
                <a:cs typeface="Aptos"/>
              </a:rPr>
              <a:t>Surface topography, ice index, plasma/ionosphere, roughness, and any motion not captured by the simple parabola.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0A5A0-8AE1-40F3-A85D-AA0BB5FF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19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Strongest next step: replace the simple parabola with the real trajectory/geometry, then see whether the same range-based chain still explains the observations.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C20C9-B56E-4D21-B81F-87254BA5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0C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8C0C5"/>
                </a:solidFill>
                <a:latin typeface="Aptos"/>
                <a:ea typeface="Aptos"/>
                <a:cs typeface="Aptos"/>
              </a:rPr>
              <a:t>Talk track: I am not claiming the simplified model is final; I am using it to understand which radar effects should move together.</a:t>
            </a:r>
          </a:p>
        </p:txBody>
      </p:sp>
    </p:spTree>
    <p:extLst>
      <p:ext uri="{BB962C8B-B14F-4D97-AF65-F5344CB8AC3E}">
        <p14:creationId xmlns:p14="http://schemas.microsoft.com/office/powerpoint/2010/main" val="280870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2026-06-04T19:32:12.3750000Z</dcterms:created>
  <dcterms:modified xsi:type="dcterms:W3CDTF">2026-06-04T19:32:12.3750000Z</dcterms:modified>
</coreProperties>
</file>