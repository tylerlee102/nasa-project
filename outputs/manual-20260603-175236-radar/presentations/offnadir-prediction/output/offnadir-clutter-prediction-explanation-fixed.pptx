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bceb099637439c" /><Relationship Type="http://schemas.openxmlformats.org/officeDocument/2006/relationships/extended-properties" Target="/docProps/app.xml" Id="R4a14e241fd1745db" /><Relationship Type="http://schemas.openxmlformats.org/officeDocument/2006/relationships/officeDocument" Target="/ppt/presentation.xml" Id="R340d7ce3c4c04e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19b5d7d0eb44dc"/>
  </p:sldMasterIdLst>
  <p:notesMasterIdLst>
    <p:notesMasterId xmlns:r="http://schemas.openxmlformats.org/officeDocument/2006/relationships" r:id="R37feb8611baf4518"/>
  </p:notesMasterIdLst>
  <p:sldIdLst>
    <p:sldId xmlns:r="http://schemas.openxmlformats.org/officeDocument/2006/relationships" id="256" r:id="Rf7ac560383a948e8"/>
    <p:sldId xmlns:r="http://schemas.openxmlformats.org/officeDocument/2006/relationships" id="257" r:id="Rcbc1a27516cc40d9"/>
    <p:sldId xmlns:r="http://schemas.openxmlformats.org/officeDocument/2006/relationships" id="258" r:id="R83aa4dfdbe7f4fa9"/>
    <p:sldId xmlns:r="http://schemas.openxmlformats.org/officeDocument/2006/relationships" id="259" r:id="Rfd1bde663bd64fed"/>
    <p:sldId xmlns:r="http://schemas.openxmlformats.org/officeDocument/2006/relationships" id="260" r:id="R211f866235f742ad"/>
    <p:sldId xmlns:r="http://schemas.openxmlformats.org/officeDocument/2006/relationships" id="261" r:id="R4b8a8283deff47ce"/>
    <p:sldId xmlns:r="http://schemas.openxmlformats.org/officeDocument/2006/relationships" id="262" r:id="Rdb60bdaa4ed14e94"/>
    <p:sldId xmlns:r="http://schemas.openxmlformats.org/officeDocument/2006/relationships" id="263" r:id="Rc12d661e9f3b4f19"/>
    <p:sldId xmlns:r="http://schemas.openxmlformats.org/officeDocument/2006/relationships" id="264" r:id="R081f8cf80c45484b"/>
    <p:sldId xmlns:r="http://schemas.openxmlformats.org/officeDocument/2006/relationships" id="265" r:id="Rfe2d7fce4a654ae5"/>
    <p:sldId xmlns:r="http://schemas.openxmlformats.org/officeDocument/2006/relationships" id="266" r:id="Re5ffbd1fe5044c12"/>
    <p:sldId xmlns:r="http://schemas.openxmlformats.org/officeDocument/2006/relationships" id="267" r:id="R3687b2d859954b0a"/>
    <p:sldId xmlns:r="http://schemas.openxmlformats.org/officeDocument/2006/relationships" id="268" r:id="R2225d2fd0670418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bdf2e47f8a4bb4" /><Relationship Type="http://schemas.openxmlformats.org/officeDocument/2006/relationships/slideMaster" Target="/ppt/slideMasters/slideMaster1.xml" Id="Rcb19b5d7d0eb44dc" /><Relationship Type="http://schemas.openxmlformats.org/officeDocument/2006/relationships/notesMaster" Target="/ppt/notesMasters/notesMaster1.xml" Id="R37feb8611baf4518" /><Relationship Type="http://schemas.openxmlformats.org/officeDocument/2006/relationships/presProps" Target="/ppt/presProps.xml" Id="R2413a4feeb2f40b1" /><Relationship Type="http://schemas.openxmlformats.org/officeDocument/2006/relationships/viewProps" Target="/ppt/viewProps.xml" Id="R4f29012137ef4a7b" /><Relationship Type="http://schemas.openxmlformats.org/officeDocument/2006/relationships/tableStyles" Target="/ppt/tableStyles.xml" Id="R00af450fec444958" /><Relationship Type="http://schemas.openxmlformats.org/officeDocument/2006/relationships/slide" Target="/ppt/slides/slide1.xml" Id="Rf7ac560383a948e8" /><Relationship Type="http://schemas.openxmlformats.org/officeDocument/2006/relationships/slide" Target="/ppt/slides/slide2.xml" Id="Rcbc1a27516cc40d9" /><Relationship Type="http://schemas.openxmlformats.org/officeDocument/2006/relationships/slide" Target="/ppt/slides/slide3.xml" Id="R83aa4dfdbe7f4fa9" /><Relationship Type="http://schemas.openxmlformats.org/officeDocument/2006/relationships/slide" Target="/ppt/slides/slide4.xml" Id="Rfd1bde663bd64fed" /><Relationship Type="http://schemas.openxmlformats.org/officeDocument/2006/relationships/slide" Target="/ppt/slides/slide5.xml" Id="R211f866235f742ad" /><Relationship Type="http://schemas.openxmlformats.org/officeDocument/2006/relationships/slide" Target="/ppt/slides/slide6.xml" Id="R4b8a8283deff47ce" /><Relationship Type="http://schemas.openxmlformats.org/officeDocument/2006/relationships/slide" Target="/ppt/slides/slide7.xml" Id="Rdb60bdaa4ed14e94" /><Relationship Type="http://schemas.openxmlformats.org/officeDocument/2006/relationships/slide" Target="/ppt/slides/slide8.xml" Id="Rc12d661e9f3b4f19" /><Relationship Type="http://schemas.openxmlformats.org/officeDocument/2006/relationships/slide" Target="/ppt/slides/slide9.xml" Id="R081f8cf80c45484b" /><Relationship Type="http://schemas.openxmlformats.org/officeDocument/2006/relationships/slide" Target="/ppt/slides/slide10.xml" Id="Rfe2d7fce4a654ae5" /><Relationship Type="http://schemas.openxmlformats.org/officeDocument/2006/relationships/slide" Target="/ppt/slides/slide11.xml" Id="Re5ffbd1fe5044c12" /><Relationship Type="http://schemas.openxmlformats.org/officeDocument/2006/relationships/slide" Target="/ppt/slides/slide12.xml" Id="R3687b2d859954b0a" /><Relationship Type="http://schemas.openxmlformats.org/officeDocument/2006/relationships/slide" Target="/ppt/slides/slide13.xml" Id="R2225d2fd067041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27f97861f24c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d9cdc4dabf4a1e" /><Relationship Type="http://schemas.openxmlformats.org/officeDocument/2006/relationships/notesMaster" Target="/ppt/notesMasters/notesMaster1.xml" Id="R3b3e919aae054b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69753a19e64c68" /><Relationship Type="http://schemas.openxmlformats.org/officeDocument/2006/relationships/notesMaster" Target="/ppt/notesMasters/notesMaster1.xml" Id="R0ec61c33bf664c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866232d7694551" /><Relationship Type="http://schemas.openxmlformats.org/officeDocument/2006/relationships/notesMaster" Target="/ppt/notesMasters/notesMaster1.xml" Id="R7d055bb5048347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2a96f8092c4737" /><Relationship Type="http://schemas.openxmlformats.org/officeDocument/2006/relationships/notesMaster" Target="/ppt/notesMasters/notesMaster1.xml" Id="R8f830e318a7f4c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08b91fcbfd454b" /><Relationship Type="http://schemas.openxmlformats.org/officeDocument/2006/relationships/notesMaster" Target="/ppt/notesMasters/notesMaster1.xml" Id="Rfcbaf5d4b3e745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c94091926a48d3" /><Relationship Type="http://schemas.openxmlformats.org/officeDocument/2006/relationships/notesMaster" Target="/ppt/notesMasters/notesMaster1.xml" Id="R16dab946601f45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4d0f74494141f1" /><Relationship Type="http://schemas.openxmlformats.org/officeDocument/2006/relationships/notesMaster" Target="/ppt/notesMasters/notesMaster1.xml" Id="R0a8f2897ef8f43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d736ba8b6a4344" /><Relationship Type="http://schemas.openxmlformats.org/officeDocument/2006/relationships/notesMaster" Target="/ppt/notesMasters/notesMaster1.xml" Id="Rec8466b3ad1946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c863c8e3cd4af4" /><Relationship Type="http://schemas.openxmlformats.org/officeDocument/2006/relationships/notesMaster" Target="/ppt/notesMasters/notesMaster1.xml" Id="R6c1f0b382ada48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3219aa471147d9" /><Relationship Type="http://schemas.openxmlformats.org/officeDocument/2006/relationships/notesMaster" Target="/ppt/notesMasters/notesMaster1.xml" Id="R30555de349534c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2afd3b38bf9482e" /><Relationship Type="http://schemas.openxmlformats.org/officeDocument/2006/relationships/notesMaster" Target="/ppt/notesMasters/notesMaster1.xml" Id="R2a5f4561361243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d4a6d89a6944a6" /><Relationship Type="http://schemas.openxmlformats.org/officeDocument/2006/relationships/notesMaster" Target="/ppt/notesMasters/notesMaster1.xml" Id="R2ad301a22d5f48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8078cf2c44b4a0f" /><Relationship Type="http://schemas.openxmlformats.org/officeDocument/2006/relationships/notesMaster" Target="/ppt/notesMasters/notesMaster1.xml" Id="R2102ed6b481448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b4bdbd77054d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055b3a88cb4e7b" /><Relationship Type="http://schemas.openxmlformats.org/officeDocument/2006/relationships/slideLayout" Target="/ppt/slideLayouts/slideLayout1.xml" Id="Re45bf7f02c3b4d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5bf7f02c3b4d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a63d2a86e4904" /><Relationship Type="http://schemas.openxmlformats.org/officeDocument/2006/relationships/image" Target="/ppt/media/image.png" Id="R959a5c2452034c7a" /><Relationship Type="http://schemas.openxmlformats.org/officeDocument/2006/relationships/notesSlide" Target="/ppt/notesSlides/notesSlide1.xml" Id="Rbdb8b4d5699e4d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bb7c924694407" /><Relationship Type="http://schemas.openxmlformats.org/officeDocument/2006/relationships/image" Target="/ppt/media/image2.png" Id="R6ca52cc6bc77415c" /><Relationship Type="http://schemas.openxmlformats.org/officeDocument/2006/relationships/notesSlide" Target="/ppt/notesSlides/notesSlide2.xml" Id="Re3fc3fd8b19d47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7e745585b493a" /><Relationship Type="http://schemas.openxmlformats.org/officeDocument/2006/relationships/image" Target="/ppt/media/image3.png" Id="R9c6e70db4c6a4890" /><Relationship Type="http://schemas.openxmlformats.org/officeDocument/2006/relationships/notesSlide" Target="/ppt/notesSlides/notesSlide3.xml" Id="R36eaf7c12e8d4e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6029ee2424209" /><Relationship Type="http://schemas.openxmlformats.org/officeDocument/2006/relationships/image" Target="/ppt/media/image4.png" Id="R175ca334fd034017" /><Relationship Type="http://schemas.openxmlformats.org/officeDocument/2006/relationships/notesSlide" Target="/ppt/notesSlides/notesSlide4.xml" Id="Re2dbf20c2d5d4c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9f958e705469b" /><Relationship Type="http://schemas.openxmlformats.org/officeDocument/2006/relationships/image" Target="/ppt/media/image5.png" Id="R451043ffc1fa4333" /><Relationship Type="http://schemas.openxmlformats.org/officeDocument/2006/relationships/notesSlide" Target="/ppt/notesSlides/notesSlide5.xml" Id="R1d26ea50c7b547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6cb89fa964c47" /><Relationship Type="http://schemas.openxmlformats.org/officeDocument/2006/relationships/image" Target="/ppt/media/image6.png" Id="R52778e0d71a24092" /><Relationship Type="http://schemas.openxmlformats.org/officeDocument/2006/relationships/notesSlide" Target="/ppt/notesSlides/notesSlide6.xml" Id="R4a2c9c2e9a2c44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20407eb59423d" /><Relationship Type="http://schemas.openxmlformats.org/officeDocument/2006/relationships/image" Target="/ppt/media/image7.png" Id="Ra2d074e6fce14a2d" /><Relationship Type="http://schemas.openxmlformats.org/officeDocument/2006/relationships/notesSlide" Target="/ppt/notesSlides/notesSlide7.xml" Id="Rd0e6221e6e0040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db6556759495e" /><Relationship Type="http://schemas.openxmlformats.org/officeDocument/2006/relationships/image" Target="/ppt/media/image8.png" Id="Rc598391e66ec414c" /><Relationship Type="http://schemas.openxmlformats.org/officeDocument/2006/relationships/notesSlide" Target="/ppt/notesSlides/notesSlide8.xml" Id="Rc3043709bc3148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d1b4d5faf42e0" /><Relationship Type="http://schemas.openxmlformats.org/officeDocument/2006/relationships/image" Target="/ppt/media/image9.png" Id="R424ce09a2d214a64" /><Relationship Type="http://schemas.openxmlformats.org/officeDocument/2006/relationships/image" Target="/ppt/media/image10.png" Id="R86d75920316c442a" /><Relationship Type="http://schemas.openxmlformats.org/officeDocument/2006/relationships/notesSlide" Target="/ppt/notesSlides/notesSlide9.xml" Id="R2879d4de8e6244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5d552db5b4d1a" /><Relationship Type="http://schemas.openxmlformats.org/officeDocument/2006/relationships/image" Target="/ppt/media/image11.png" Id="Re51cf35eace24200" /><Relationship Type="http://schemas.openxmlformats.org/officeDocument/2006/relationships/notesSlide" Target="/ppt/notesSlides/notesSlide10.xml" Id="R642d71e99f5c4f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3e59aa3124dbd" /><Relationship Type="http://schemas.openxmlformats.org/officeDocument/2006/relationships/image" Target="/ppt/media/image12.png" Id="R55012313db91494b" /><Relationship Type="http://schemas.openxmlformats.org/officeDocument/2006/relationships/notesSlide" Target="/ppt/notesSlides/notesSlide11.xml" Id="R5be3769a6ad34a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2383f51024ea2" /><Relationship Type="http://schemas.openxmlformats.org/officeDocument/2006/relationships/image" Target="/ppt/media/image13.png" Id="R8bd59b287ee84eea" /><Relationship Type="http://schemas.openxmlformats.org/officeDocument/2006/relationships/image" Target="/ppt/media/image14.png" Id="R5a6ccf8121ee4ead" /><Relationship Type="http://schemas.openxmlformats.org/officeDocument/2006/relationships/notesSlide" Target="/ppt/notesSlides/notesSlide12.xml" Id="R18d721384af844a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22c28ba624459" /><Relationship Type="http://schemas.openxmlformats.org/officeDocument/2006/relationships/image" Target="/ppt/media/image15.png" Id="R08882b84370e4b3a" /><Relationship Type="http://schemas.openxmlformats.org/officeDocument/2006/relationships/image" Target="/ppt/media/image16.png" Id="Rbda50e7234ee40f6" /><Relationship Type="http://schemas.openxmlformats.org/officeDocument/2006/relationships/image" Target="/ppt/media/image17.png" Id="Rdfd6ceb1f22d4cde" /><Relationship Type="http://schemas.openxmlformats.org/officeDocument/2006/relationships/notesSlide" Target="/ppt/notesSlides/notesSlide13.xml" Id="Rc5995d1294f645a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0A9F1C-23F2-4072-8057-85B42EBD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11201114-CD64-4A0B-94D9-0D82B21D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BB9991AD-649A-4469-80AB-4A01A30E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D3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D3D8"/>
                </a:solidFill>
                <a:latin typeface="Aptos"/>
                <a:ea typeface="Aptos"/>
                <a:cs typeface="Aptos"/>
              </a:rPr>
              <a:t>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46BBF-EFBF-4D5D-8C24-B97AF641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43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D3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D3D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80C3C-F356-4D23-9112-E3FA92EB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561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My prediction: off-nadir clutter can look like a real 440 m layer.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19074-F5DE-4742-8802-F68D6A27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514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DDE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9DDE0"/>
                </a:solidFill>
                <a:latin typeface="Aptos"/>
                <a:ea typeface="Aptos"/>
                <a:cs typeface="Aptos"/>
              </a:rPr>
              <a:t>The key test is whether the same side-looking geometry also predicts the delay, phase, radargram shape, and Doppler/PRF behavior.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DCF53-FC52-496B-B020-F1096505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819150"/>
            <a:ext cx="5191125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9a5c2452034c7a"/>
          <a:stretch xmlns:a="http://schemas.openxmlformats.org/drawingml/2006/main"/>
        </p:blipFill>
        <p:spPr>
          <a:xfrm xmlns:a="http://schemas.openxmlformats.org/drawingml/2006/main">
            <a:off x="6543675" y="976653"/>
            <a:ext cx="4962525" cy="319019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84F4A-208A-417C-866B-B607B16A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305300"/>
            <a:ext cx="4962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05F"/>
                </a:solidFill>
                <a:latin typeface="Aptos"/>
                <a:ea typeface="Aptos"/>
                <a:cs typeface="Aptos"/>
              </a:rPr>
              <a:t>Replotted radargram-style prediction: nadir stays flat; off-nadir curves.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3D411-AC40-489A-829C-82D9439E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1638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027"/>
          </a:solidFill>
          <a:ln xmlns:a="http://schemas.openxmlformats.org/drawingml/2006/main" w="9525">
            <a:solidFill>
              <a:srgbClr val="3B46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3F3485-52D0-48F3-B09F-9162B8B6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96C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96C2C"/>
                </a:solidFill>
                <a:latin typeface="Aptos"/>
                <a:ea typeface="Aptos"/>
                <a:cs typeface="Aptos"/>
              </a:rPr>
              <a:t>SIDE OFFSET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EBD21-FF56-4E54-80FD-170E5561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29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25 km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730DDB-3DAB-484F-9402-0B915905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86325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C7C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C7CD"/>
                </a:solidFill>
                <a:latin typeface="Aptos"/>
                <a:ea typeface="Aptos"/>
                <a:cs typeface="Aptos"/>
              </a:rPr>
              <a:t>Horizontal, not altitude.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52F37C-9287-4DA5-B81B-93FAE220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71950"/>
            <a:ext cx="1638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027"/>
          </a:solidFill>
          <a:ln xmlns:a="http://schemas.openxmlformats.org/drawingml/2006/main" w="9525">
            <a:solidFill>
              <a:srgbClr val="3B46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72DFF-E3C7-4F36-9179-7B7FE9E4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0530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0B6C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0B6CC"/>
                </a:solidFill>
                <a:latin typeface="Aptos"/>
                <a:ea typeface="Aptos"/>
                <a:cs typeface="Aptos"/>
              </a:rPr>
              <a:t>FALSE DEPTH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7AF751-EB4E-4E14-84A7-C3EA60A5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14850"/>
            <a:ext cx="129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438.5 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5AD5FF-AB5A-4541-B837-F90079CC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86325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C7C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C7CD"/>
                </a:solidFill>
                <a:latin typeface="Aptos"/>
                <a:ea typeface="Aptos"/>
                <a:cs typeface="Aptos"/>
              </a:rPr>
              <a:t>Matches the 440 m idea.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5D60D1-B2F9-4BC1-8703-23E27D65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71950"/>
            <a:ext cx="1638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027"/>
          </a:solidFill>
          <a:ln xmlns:a="http://schemas.openxmlformats.org/drawingml/2006/main" w="9525">
            <a:solidFill>
              <a:srgbClr val="3B46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4D47A3-26E8-48FE-AA06-13721A38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0530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FCE9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FCE9D"/>
                </a:solidFill>
                <a:latin typeface="Aptos"/>
                <a:ea typeface="Aptos"/>
                <a:cs typeface="Aptos"/>
              </a:rPr>
              <a:t>MIN PRF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D648F3-9FFF-4D2D-8F4D-5FF8CBB1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14850"/>
            <a:ext cx="129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890 Hz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301F03-ACA8-440A-9AF6-D7890D83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86325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C7C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C7CD"/>
                </a:solidFill>
                <a:latin typeface="Aptos"/>
                <a:ea typeface="Aptos"/>
                <a:cs typeface="Aptos"/>
              </a:rPr>
              <a:t>Simple Doppler Nyquist.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13F949-86C3-4874-9645-757D3465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809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7B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7BD"/>
                </a:solidFill>
                <a:latin typeface="Aptos"/>
                <a:ea typeface="Aptos"/>
                <a:cs typeface="Aptos"/>
              </a:rPr>
              <a:t>Cleaned deck uses the replotted graph set and adds the missing evidence slides.</a:t>
            </a:r>
          </a:p>
        </p:txBody>
      </p:sp>
    </p:spTree>
    <p:extLst>
      <p:ext uri="{BB962C8B-B14F-4D97-AF65-F5344CB8AC3E}">
        <p14:creationId xmlns:p14="http://schemas.microsoft.com/office/powerpoint/2010/main" val="7968521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7DA65E-7BD8-44DB-94BB-362E5B2C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8B6A0-726D-4B9B-AE5F-FFD91F69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EBE91CF9-2D33-4E2A-9CF9-4CACC86C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A71B0212-DDF0-46EC-849C-E95B35CA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05F"/>
                </a:solidFill>
                <a:latin typeface="Aptos"/>
                <a:ea typeface="Aptos"/>
                <a:cs typeface="Aptos"/>
              </a:rPr>
              <a:t>GEOMETRY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6F9FC-CAD0-47A9-B38A-6DDFE6CB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43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05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F480B-065B-44DA-8974-FEAF871D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23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rPr>
              <a:t>The side offset alone can create the false-depth signal.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3569E-3A11-4661-9751-035F8B09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1247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a52cc6bc77415c"/>
          <a:stretch xmlns:a="http://schemas.openxmlformats.org/drawingml/2006/main"/>
        </p:blipFill>
        <p:spPr>
          <a:xfrm xmlns:a="http://schemas.openxmlformats.org/drawingml/2006/main">
            <a:off x="787400" y="1581150"/>
            <a:ext cx="6578600" cy="42291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A0618-5618-4FDA-B755-D3D00652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6896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05F"/>
                </a:solidFill>
                <a:latin typeface="Aptos"/>
                <a:ea typeface="Aptos"/>
                <a:cs typeface="Aptos"/>
              </a:rPr>
              <a:t>Parabolic flyby: closest approach is 400 km, with a 25 km cross-track return.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CF88B-DED4-4DC9-9D5B-24E074A8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66850"/>
            <a:ext cx="35433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1"/>
          </a:solidFill>
          <a:ln xmlns:a="http://schemas.openxmlformats.org/drawingml/2006/main" w="9525">
            <a:solidFill>
              <a:srgbClr val="DAC8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7721C8-B2DA-4BAB-B073-C590DFDF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735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4B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4B1F"/>
                </a:solidFill>
                <a:latin typeface="Aptos"/>
                <a:ea typeface="Aptos"/>
                <a:cs typeface="Aptos"/>
              </a:rPr>
              <a:t>Geometry math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588453-883E-4449-98AC-01002AAE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90725"/>
            <a:ext cx="3124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rPr>
              <a:t>R_off(x) = sqrt(z(x)^2 + y^2)</a:t>
            </a:r>
          </a:p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rPr>
              <a:t>R_nadir(x) = z(x)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rPr>
              <a:t>extra range = R_off - R_nadir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A858D-B1E8-4C26-B367-B6F1EDC2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28975"/>
            <a:ext cx="3124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x = along-track position</a:t>
            </a:r>
          </a:p>
          <a:p xmlns:a="http://schemas.openxmlformats.org/drawingml/2006/main">
            <a:pPr algn="l">
              <a:defRPr sz="1125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z(x) = satellite altitude along the parabolic pass</a:t>
            </a:r>
          </a:p>
          <a:p xmlns:a="http://schemas.openxmlformats.org/drawingml/2006/main">
            <a:pPr algn="l">
              <a:defRPr sz="1125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y = 25 km cross-track offset</a:t>
            </a:r>
          </a:p>
          <a:p xmlns:a="http://schemas.openxmlformats.org/drawingml/2006/main">
            <a:pPr algn="l">
              <a:defRPr sz="1125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R = one-way distance from radar to reflector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E6F046-B870-428C-8A61-3B8A58FF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57800"/>
            <a:ext cx="312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2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B1DF8-5C5D-431D-87CF-089F0B05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10200"/>
            <a:ext cx="3124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91D"/>
                </a:solidFill>
                <a:latin typeface="Aptos"/>
                <a:ea typeface="Aptos"/>
                <a:cs typeface="Aptos"/>
              </a:rPr>
              <a:t>At closest approach, the off-nadir echo travels farther even if the reflector is on the surface.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F6B4E6-70D8-4300-ACBD-65EA2CFB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800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05F"/>
                </a:solidFill>
                <a:latin typeface="Aptos"/>
                <a:ea typeface="Aptos"/>
                <a:cs typeface="Aptos"/>
              </a:rPr>
              <a:t>Local replotted graph outputs; model values from project summary JSON files.</a:t>
            </a:r>
          </a:p>
        </p:txBody>
      </p:sp>
    </p:spTree>
    <p:extLst>
      <p:ext uri="{BB962C8B-B14F-4D97-AF65-F5344CB8AC3E}">
        <p14:creationId xmlns:p14="http://schemas.microsoft.com/office/powerpoint/2010/main" val="1978805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0EBF10-DFA0-4B64-A1CE-564C6806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D4212-A47E-4EF5-BB5A-08455606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309C784C-7B17-49E5-A2A3-61BE8E97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64DC8951-DEE1-460F-B80A-BE0CA27D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05F"/>
                </a:solidFill>
                <a:latin typeface="Aptos"/>
                <a:ea typeface="Aptos"/>
                <a:cs typeface="Aptos"/>
              </a:rPr>
              <a:t>APPARENT DEPTH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BBA89-7664-4A9F-832D-86319C91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43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05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E1FD5-9E49-43AB-88E5-E59D1444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23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rPr>
              <a:t>The off-nadir surface echo lands almost exactly at the candidate depth.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06E11-3358-4EBD-9C3A-6C66D30B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1247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6e70db4c6a4890"/>
          <a:stretch xmlns:a="http://schemas.openxmlformats.org/drawingml/2006/main"/>
        </p:blipFill>
        <p:spPr>
          <a:xfrm xmlns:a="http://schemas.openxmlformats.org/drawingml/2006/main">
            <a:off x="787400" y="1581150"/>
            <a:ext cx="6578600" cy="42291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05DDB0-2E33-49AD-AE47-140C86FD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6896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05F"/>
                </a:solidFill>
                <a:latin typeface="Aptos"/>
                <a:ea typeface="Aptos"/>
                <a:cs typeface="Aptos"/>
              </a:rPr>
              <a:t>Nadir remains near zero apparent depth; off-nadir forms the predicted curved false layer.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DDC53F-E0CF-4592-BE39-FD6C04E1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66850"/>
            <a:ext cx="35433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1"/>
          </a:solidFill>
          <a:ln xmlns:a="http://schemas.openxmlformats.org/drawingml/2006/main" w="9525">
            <a:solidFill>
              <a:srgbClr val="DAC8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BA8FF4-D95C-407C-84D7-0B7F1DCD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735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4B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4B1F"/>
                </a:solidFill>
                <a:latin typeface="Aptos"/>
                <a:ea typeface="Aptos"/>
                <a:cs typeface="Aptos"/>
              </a:rPr>
              <a:t>Depth conversion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B2FAC5-2387-45BF-A147-668D4E31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90725"/>
            <a:ext cx="3124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rPr>
              <a:t>d_app = (R_off - R_nadir) / n_ice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rPr>
              <a:t>= 780.5 m / 1.78</a:t>
            </a:r>
          </a:p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rPr>
              <a:t>= 438.5 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5ACDB0-CF63-4A78-A234-A10069D3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28975"/>
            <a:ext cx="3124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d_app = apparent ice depth</a:t>
            </a:r>
          </a:p>
          <a:p xmlns:a="http://schemas.openxmlformats.org/drawingml/2006/main">
            <a:pPr algn="l">
              <a:defRPr sz="1125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n_ice = ice index of refraction</a:t>
            </a:r>
          </a:p>
          <a:p xmlns:a="http://schemas.openxmlformats.org/drawingml/2006/main">
            <a:pPr algn="l">
              <a:defRPr sz="1125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R_off - R_nadir = extra one-way air path from the side-looking surface return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4A4C7E-1D50-4169-AE65-686BFF0D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57800"/>
            <a:ext cx="312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2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58782C-D46A-4AA0-89F7-7A94866F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10200"/>
            <a:ext cx="3124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91D"/>
                </a:solidFill>
                <a:latin typeface="Aptos"/>
                <a:ea typeface="Aptos"/>
                <a:cs typeface="Aptos"/>
              </a:rPr>
              <a:t>That is why a surface feature 25 km sideways can masquerade as a ~440 m layer.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03729A-FAA2-480C-994D-C534B0E6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800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05F"/>
                </a:solidFill>
                <a:latin typeface="Aptos"/>
                <a:ea typeface="Aptos"/>
                <a:cs typeface="Aptos"/>
              </a:rPr>
              <a:t>Local replotted graph outputs; model values from project summary JSON files.</a:t>
            </a:r>
          </a:p>
        </p:txBody>
      </p:sp>
    </p:spTree>
    <p:extLst>
      <p:ext uri="{BB962C8B-B14F-4D97-AF65-F5344CB8AC3E}">
        <p14:creationId xmlns:p14="http://schemas.microsoft.com/office/powerpoint/2010/main" val="133416648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F57A53-C8EC-46A5-A2B0-7F215AE9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43973-C966-4E35-BBA2-B7BFBEC5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965D0193-0E90-47C8-8FC9-68A6572E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26FE7BB9-00C6-4A98-B5E2-D7F062F9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05F"/>
                </a:solidFill>
                <a:latin typeface="Aptos"/>
                <a:ea typeface="Aptos"/>
                <a:cs typeface="Aptos"/>
              </a:rPr>
              <a:t>ECHO DELAY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262B6-0A25-4BDF-94A4-3726AA18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43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05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FF8DF-82A3-4DC7-AF4A-2163FF26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23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rPr>
              <a:t>The same geometry predicts the extra return time.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87D47-C1C7-4249-A2ED-7CE51CEC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1247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ca334fd034017"/>
          <a:stretch xmlns:a="http://schemas.openxmlformats.org/drawingml/2006/main"/>
        </p:blipFill>
        <p:spPr>
          <a:xfrm xmlns:a="http://schemas.openxmlformats.org/drawingml/2006/main">
            <a:off x="787400" y="1581150"/>
            <a:ext cx="6578600" cy="42291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890078-5B0A-47C8-A359-D159247D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6896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05F"/>
                </a:solidFill>
                <a:latin typeface="Aptos"/>
                <a:ea typeface="Aptos"/>
                <a:cs typeface="Aptos"/>
              </a:rPr>
              <a:t>Extra delay peaks at closest approach because the off-nadir path is longest relative to nadir.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443A19-E4C4-4267-81C6-DADE58E6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66850"/>
            <a:ext cx="35433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1"/>
          </a:solidFill>
          <a:ln xmlns:a="http://schemas.openxmlformats.org/drawingml/2006/main" w="9525">
            <a:solidFill>
              <a:srgbClr val="DAC8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F08F95-45E9-431A-AD38-71B77686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735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4B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4B1F"/>
                </a:solidFill>
                <a:latin typeface="Aptos"/>
                <a:ea typeface="Aptos"/>
                <a:cs typeface="Aptos"/>
              </a:rPr>
              <a:t>Two-way delay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1AD42E-7100-421F-B2AC-1195929F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90725"/>
            <a:ext cx="3124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rPr>
              <a:t>Delta t = 2(R_off - R_nadir) / 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rPr>
              <a:t>Delta t = 2(780.5 m) / c</a:t>
            </a:r>
          </a:p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rPr>
              <a:t>Delta t = 5.21 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6F7946-D5EC-4429-BE3C-5180C73A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28975"/>
            <a:ext cx="3124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Delta t = extra echo arrival time</a:t>
            </a:r>
          </a:p>
          <a:p xmlns:a="http://schemas.openxmlformats.org/drawingml/2006/main">
            <a:pPr algn="l">
              <a:defRPr sz="1125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c = speed of light in air</a:t>
            </a:r>
          </a:p>
          <a:p xmlns:a="http://schemas.openxmlformats.org/drawingml/2006/main">
            <a:pPr algn="l">
              <a:defRPr sz="1125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factor 2 = radar signal travels out and 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3489B0-3E8A-4A52-94AC-49AD71EB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57800"/>
            <a:ext cx="312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2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BBD88A-D17A-4394-B0B0-29D535AD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10200"/>
            <a:ext cx="3124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91D"/>
                </a:solidFill>
                <a:latin typeface="Aptos"/>
                <a:ea typeface="Aptos"/>
                <a:cs typeface="Aptos"/>
              </a:rPr>
              <a:t>The delay and the apparent depth are the same prediction written in two radar units.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400C51-7545-4DC7-9F56-A9E86A21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800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05F"/>
                </a:solidFill>
                <a:latin typeface="Aptos"/>
                <a:ea typeface="Aptos"/>
                <a:cs typeface="Aptos"/>
              </a:rPr>
              <a:t>Local replotted graph outputs; model values from project summary JSON files.</a:t>
            </a:r>
          </a:p>
        </p:txBody>
      </p:sp>
    </p:spTree>
    <p:extLst>
      <p:ext uri="{BB962C8B-B14F-4D97-AF65-F5344CB8AC3E}">
        <p14:creationId xmlns:p14="http://schemas.microsoft.com/office/powerpoint/2010/main" val="18216146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E45AD3-70A4-460C-8160-45C42186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43934-F3BE-483A-B8AC-33C7A31B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15908EFE-F83F-4CE4-969E-A320535F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14E5B39C-8656-4F3D-A46E-2A65BBED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05F"/>
                </a:solidFill>
                <a:latin typeface="Aptos"/>
                <a:ea typeface="Aptos"/>
                <a:cs typeface="Aptos"/>
              </a:rPr>
              <a:t>RETURN STRENGTH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21331-E218-47DC-9B2B-DC04B820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43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05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861B3-CB50-4097-BD6F-A6FA2A78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23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rPr>
              <a:t>Geometry alone does not make the clutter disappear.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A002F-2C99-4395-82A0-7F69FF6C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1247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1043ffc1fa4333"/>
          <a:stretch xmlns:a="http://schemas.openxmlformats.org/drawingml/2006/main"/>
        </p:blipFill>
        <p:spPr>
          <a:xfrm xmlns:a="http://schemas.openxmlformats.org/drawingml/2006/main">
            <a:off x="787400" y="1581150"/>
            <a:ext cx="6578600" cy="42291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64701-264D-446D-850C-C4A3B0AB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6896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05F"/>
                </a:solidFill>
                <a:latin typeface="Aptos"/>
                <a:ea typeface="Aptos"/>
                <a:cs typeface="Aptos"/>
              </a:rPr>
              <a:t>The modeled spreading loss is tiny for 25 km sideways compared with 400 km altitude.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DC1B4-79C1-43A5-B8B7-8790B822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66850"/>
            <a:ext cx="3543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1"/>
          </a:solidFill>
          <a:ln xmlns:a="http://schemas.openxmlformats.org/drawingml/2006/main" w="9525">
            <a:solidFill>
              <a:srgbClr val="DAC8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D184B4-3BAB-4A61-900E-676D5E3C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735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4B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4B1F"/>
                </a:solidFill>
                <a:latin typeface="Aptos"/>
                <a:ea typeface="Aptos"/>
                <a:cs typeface="Aptos"/>
              </a:rPr>
              <a:t>Power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D9A64-74DC-4ED2-BF61-9B44010F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90725"/>
            <a:ext cx="3124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rPr>
              <a:t>relative power ~ (R_nadir / R_off)^4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rPr>
              <a:t>loss near closest approach:</a:t>
            </a:r>
          </a:p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rPr>
              <a:t>-0.034 dB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EBE602-B946-4496-B4A3-E99B178E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28975"/>
            <a:ext cx="3124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The fourth power is the two-way spreading approximation: out path and return path both matter.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90047-3F13-4BF3-B46E-6E5B3C14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14850"/>
            <a:ext cx="35433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78A572-F3F6-4AAD-A49A-42DA7A2C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3200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D7C5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D7C59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ED121F-7EEA-431B-B7BE-65E13331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57750"/>
            <a:ext cx="3200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rPr>
              <a:t>Power is not the blocker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E6F117-2747-4757-AEBA-6030058F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743575"/>
            <a:ext cx="3200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05F"/>
                </a:solidFill>
                <a:latin typeface="Aptos"/>
                <a:ea typeface="Aptos"/>
                <a:cs typeface="Aptos"/>
              </a:rPr>
              <a:t>The graph says the side-looking surface return could still be visible if the terrain/beam response supports 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42F1-09A9-494D-AEBD-3E277A54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800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05F"/>
                </a:solidFill>
                <a:latin typeface="Aptos"/>
                <a:ea typeface="Aptos"/>
                <a:cs typeface="Aptos"/>
              </a:rPr>
              <a:t>Local replotted graph outputs; model values from project summary JSON files.</a:t>
            </a:r>
          </a:p>
        </p:txBody>
      </p:sp>
    </p:spTree>
    <p:extLst>
      <p:ext uri="{BB962C8B-B14F-4D97-AF65-F5344CB8AC3E}">
        <p14:creationId xmlns:p14="http://schemas.microsoft.com/office/powerpoint/2010/main" val="8362260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8AB4CF-FEF6-4B65-9AE7-31CCC5D0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B94DF-9FF4-4C65-A846-BE1FE751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1E86371F-2B1B-4A38-8A2B-71C34090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75833437-BD36-4857-8EB6-D0ACF13C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05F"/>
                </a:solidFill>
                <a:latin typeface="Aptos"/>
                <a:ea typeface="Aptos"/>
                <a:cs typeface="Aptos"/>
              </a:rPr>
              <a:t>PHASE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BDF02-8089-456F-8F21-BBC2114C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43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05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B2AC0-807C-467E-803A-CBBDAA4C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23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rPr>
              <a:t>The off-nadir echo should have a nonzero interferometric phase.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52C594-C3D1-4800-BA6C-26354B59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1247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778e0d71a24092"/>
          <a:stretch xmlns:a="http://schemas.openxmlformats.org/drawingml/2006/main"/>
        </p:blipFill>
        <p:spPr>
          <a:xfrm xmlns:a="http://schemas.openxmlformats.org/drawingml/2006/main">
            <a:off x="787400" y="1581150"/>
            <a:ext cx="6578600" cy="42291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8E83D-61C3-4547-A377-4EEEBD8F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6896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05F"/>
                </a:solidFill>
                <a:latin typeface="Aptos"/>
                <a:ea typeface="Aptos"/>
                <a:cs typeface="Aptos"/>
              </a:rPr>
              <a:t>VHF phase is near zero for nadir and nonzero for the side-looking return.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085D3-94D8-4152-9547-ABAEA918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66850"/>
            <a:ext cx="35433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1"/>
          </a:solidFill>
          <a:ln xmlns:a="http://schemas.openxmlformats.org/drawingml/2006/main" w="9525">
            <a:solidFill>
              <a:srgbClr val="DAC8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E014A1-6A12-44FD-A9C5-108A2ED7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735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4B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4B1F"/>
                </a:solidFill>
                <a:latin typeface="Aptos"/>
                <a:ea typeface="Aptos"/>
                <a:cs typeface="Aptos"/>
              </a:rPr>
              <a:t>Phase relation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1CCFBA-177F-4F77-B0BA-B5C4996B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90725"/>
            <a:ext cx="3124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rPr>
              <a:t>phi = 2*pi*(B/lambda)*sin(theta)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rPr>
              <a:t>theta = atan(y / z)</a:t>
            </a:r>
          </a:p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rPr>
              <a:t>phi ~= 22.5 deg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F137E5-0F7E-4901-90A0-9C258A79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28975"/>
            <a:ext cx="3124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phi = interferometric phase</a:t>
            </a:r>
          </a:p>
          <a:p xmlns:a="http://schemas.openxmlformats.org/drawingml/2006/main">
            <a:pPr algn="l">
              <a:defRPr sz="1125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B = antenna baseline</a:t>
            </a:r>
          </a:p>
          <a:p xmlns:a="http://schemas.openxmlformats.org/drawingml/2006/main">
            <a:pPr algn="l">
              <a:defRPr sz="1125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lambda = radar wavelength</a:t>
            </a:r>
          </a:p>
          <a:p xmlns:a="http://schemas.openxmlformats.org/drawingml/2006/main">
            <a:pPr algn="l">
              <a:defRPr sz="1125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theta = look angle from nadir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FBC7C-B2A5-411B-B091-DD6E517F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57800"/>
            <a:ext cx="312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2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B5CA13-8BC6-4015-87C9-A645F007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10200"/>
            <a:ext cx="3124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91D"/>
                </a:solidFill>
                <a:latin typeface="Aptos"/>
                <a:ea typeface="Aptos"/>
                <a:cs typeface="Aptos"/>
              </a:rPr>
              <a:t>If the candidate is clutter, phase should point sideways instead of behaving like a nadir layer.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E0A59-DE3E-4791-8EDD-48B093E7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800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05F"/>
                </a:solidFill>
                <a:latin typeface="Aptos"/>
                <a:ea typeface="Aptos"/>
                <a:cs typeface="Aptos"/>
              </a:rPr>
              <a:t>Local replotted graph outputs; model values from project summary JSON files.</a:t>
            </a:r>
          </a:p>
        </p:txBody>
      </p:sp>
    </p:spTree>
    <p:extLst>
      <p:ext uri="{BB962C8B-B14F-4D97-AF65-F5344CB8AC3E}">
        <p14:creationId xmlns:p14="http://schemas.microsoft.com/office/powerpoint/2010/main" val="1893239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73C4E1-DECE-4CF8-9550-5FF37998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28E22-3B08-4ECB-BFC4-D59043DB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528E1862-4158-419B-8C43-B99BB1DC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A54B214E-52C1-4777-8EE7-F124C6C2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05F"/>
                </a:solidFill>
                <a:latin typeface="Aptos"/>
                <a:ea typeface="Aptos"/>
                <a:cs typeface="Aptos"/>
              </a:rPr>
              <a:t>INTERFEROMETRY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DEDDF-6D61-4018-B166-A8FD29D1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43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05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15F7A3-533B-43D5-84E6-CCE05E35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23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rPr>
              <a:t>The phase-derived offset should cluster near 25 km.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0074F-674E-4AFF-9A83-3244C4B7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1247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d074e6fce14a2d"/>
          <a:stretch xmlns:a="http://schemas.openxmlformats.org/drawingml/2006/main"/>
        </p:blipFill>
        <p:spPr>
          <a:xfrm xmlns:a="http://schemas.openxmlformats.org/drawingml/2006/main">
            <a:off x="787400" y="1581150"/>
            <a:ext cx="6578600" cy="42291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767C1-1D7D-4C02-9728-C82C74A3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6896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05F"/>
                </a:solidFill>
                <a:latin typeface="Aptos"/>
                <a:ea typeface="Aptos"/>
                <a:cs typeface="Aptos"/>
              </a:rPr>
              <a:t>Cleaned graph: the inferred offset stays close to the 25 km prediction.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C1FFA9-6D1C-4A68-B396-B5185AFB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66850"/>
            <a:ext cx="35433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1"/>
          </a:solidFill>
          <a:ln xmlns:a="http://schemas.openxmlformats.org/drawingml/2006/main" w="9525">
            <a:solidFill>
              <a:srgbClr val="DAC8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F94422-D4A3-4918-820B-A593A843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735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4B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4B1F"/>
                </a:solidFill>
                <a:latin typeface="Aptos"/>
                <a:ea typeface="Aptos"/>
                <a:cs typeface="Aptos"/>
              </a:rPr>
              <a:t>Offset inversion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F55499-D758-4B48-94C7-47A09B6B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90725"/>
            <a:ext cx="3124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rPr>
              <a:t>theta = asin(phi*lambda / (2*pi*B))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rPr>
              <a:t>y_est = z*tan(theta)</a:t>
            </a:r>
          </a:p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rPr>
              <a:t>mean y_est ~= 25.1 km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BBC3B-4F5C-475A-AF40-2F0B8B17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28975"/>
            <a:ext cx="3124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theta is recovered from phase.</a:t>
            </a:r>
          </a:p>
          <a:p xmlns:a="http://schemas.openxmlformats.org/drawingml/2006/main">
            <a:pPr algn="l">
              <a:defRPr sz="1125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y_est is the cross-track position implied by the interferometric measurement.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B6FCB-AEEC-465A-A2BA-F8C28F17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57800"/>
            <a:ext cx="312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2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E3661B-D469-47E2-A621-0CB708B3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10200"/>
            <a:ext cx="3124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91D"/>
                </a:solidFill>
                <a:latin typeface="Aptos"/>
                <a:ea typeface="Aptos"/>
                <a:cs typeface="Aptos"/>
              </a:rPr>
              <a:t>This gives a falsifiable test: the phase should recover the same side offset that creates the false depth.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C37525-14E5-4D76-96CD-DB50C798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800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05F"/>
                </a:solidFill>
                <a:latin typeface="Aptos"/>
                <a:ea typeface="Aptos"/>
                <a:cs typeface="Aptos"/>
              </a:rPr>
              <a:t>Local replotted graph outputs; model values from project summary JSON files.</a:t>
            </a:r>
          </a:p>
        </p:txBody>
      </p:sp>
    </p:spTree>
    <p:extLst>
      <p:ext uri="{BB962C8B-B14F-4D97-AF65-F5344CB8AC3E}">
        <p14:creationId xmlns:p14="http://schemas.microsoft.com/office/powerpoint/2010/main" val="123438077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D8FE3B-A8ED-40F1-9D00-FAE1BA92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00472-CDEB-40D8-9CDA-8BAD8E92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A30B1427-EBAC-4D59-9CAC-EC667568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EED89550-6608-478E-83BB-B46F0CEA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05F"/>
                </a:solidFill>
                <a:latin typeface="Aptos"/>
                <a:ea typeface="Aptos"/>
                <a:cs typeface="Aptos"/>
              </a:rPr>
              <a:t>RADARGRAM SIGNATURE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2D2535-5DC8-45A9-B7F3-02FB230D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43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05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97B43-C6AC-4A8E-ACBD-BA95424F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23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rPr>
              <a:t>A clutter trace should curve with flyby geometry, not stay flat like a layer.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14544-4434-4583-A3D2-6C9B5068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107823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98391e66ec414c"/>
          <a:stretch xmlns:a="http://schemas.openxmlformats.org/drawingml/2006/main"/>
        </p:blipFill>
        <p:spPr>
          <a:xfrm xmlns:a="http://schemas.openxmlformats.org/drawingml/2006/main">
            <a:off x="2969683" y="1524000"/>
            <a:ext cx="6252633" cy="4019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13CF3-751B-4C54-B009-D47A5C5D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05F"/>
                </a:solidFill>
                <a:latin typeface="Aptos"/>
                <a:ea typeface="Aptos"/>
                <a:cs typeface="Aptos"/>
              </a:rPr>
              <a:t>The replotted radargram-style view is the most professor-friendly evidence slide.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8F8AB7-4527-4D9B-997A-0EE87891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How to say it: the orange off-nadir feature has the shape of a moving surface reflector; a real horizontal subsurface layer would not naturally follow this side-looking range curve.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BB90BB-70C1-456E-9361-D08382BB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800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05F"/>
                </a:solidFill>
                <a:latin typeface="Aptos"/>
                <a:ea typeface="Aptos"/>
                <a:cs typeface="Aptos"/>
              </a:rPr>
              <a:t>Local replotted graph outputs; model values from project summary JSON files.</a:t>
            </a:r>
          </a:p>
        </p:txBody>
      </p:sp>
    </p:spTree>
    <p:extLst>
      <p:ext uri="{BB962C8B-B14F-4D97-AF65-F5344CB8AC3E}">
        <p14:creationId xmlns:p14="http://schemas.microsoft.com/office/powerpoint/2010/main" val="102919475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EDC983-5E49-416A-96D1-95F2BE66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4F5DF5-349B-4EF6-88D1-A8D087AC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346A911F-129C-4386-9779-37D4837C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8D26039B-9294-4BFF-B6B2-7D23B460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05F"/>
                </a:solidFill>
                <a:latin typeface="Aptos"/>
                <a:ea typeface="Aptos"/>
                <a:cs typeface="Aptos"/>
              </a:rPr>
              <a:t>RESOLUTION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89CF4-66C2-4186-ACCA-BD6118C6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43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05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05226-4BF9-4A97-ACF8-03AC6651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23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rPr>
              <a:t>The same echo can look thin or broad depending on radar band.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A7B9D-CB14-4AB2-B254-BE56161A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5353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ce09a2d214a64"/>
          <a:stretch xmlns:a="http://schemas.openxmlformats.org/drawingml/2006/main"/>
        </p:blipFill>
        <p:spPr>
          <a:xfrm xmlns:a="http://schemas.openxmlformats.org/drawingml/2006/main">
            <a:off x="731308" y="1581150"/>
            <a:ext cx="4919133" cy="31623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C6FEE9-12D9-4663-AFA1-F6803A5C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38700"/>
            <a:ext cx="512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05F"/>
                </a:solidFill>
                <a:latin typeface="Aptos"/>
                <a:ea typeface="Aptos"/>
                <a:cs typeface="Aptos"/>
              </a:rPr>
              <a:t>VHF resolution band around the false layer.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1BF94-2A86-4538-83C5-8679E99F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66850"/>
            <a:ext cx="5353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75920316c442a"/>
          <a:stretch xmlns:a="http://schemas.openxmlformats.org/drawingml/2006/main"/>
        </p:blipFill>
        <p:spPr>
          <a:xfrm xmlns:a="http://schemas.openxmlformats.org/drawingml/2006/main">
            <a:off x="6541558" y="1581150"/>
            <a:ext cx="4919133" cy="31623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D2A01E-4C17-47DA-8FA3-87A32C1A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38700"/>
            <a:ext cx="512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05F"/>
                </a:solidFill>
                <a:latin typeface="Aptos"/>
                <a:ea typeface="Aptos"/>
                <a:cs typeface="Aptos"/>
              </a:rPr>
              <a:t>HF resolution band is broader in this modeled setup.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FC3EF3-660F-44C9-A32F-C4235550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0"/>
            <a:ext cx="11163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1"/>
          </a:solidFill>
          <a:ln xmlns:a="http://schemas.openxmlformats.org/drawingml/2006/main" w="9525">
            <a:solidFill>
              <a:srgbClr val="DAC8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984950-1EDE-4508-8FD0-BDD4BE70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53075"/>
            <a:ext cx="10725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Math: range resolution in ice is approximately c / (2*n_ice*B). B is bandwidth; larger bandwidth gives a thinner vertical response. This matters because the same off-nadir surface return can be interpreted differently depending on the radar band and processing.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575A3A-B177-4CE8-A888-B9141E8A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800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05F"/>
                </a:solidFill>
                <a:latin typeface="Aptos"/>
                <a:ea typeface="Aptos"/>
                <a:cs typeface="Aptos"/>
              </a:rPr>
              <a:t>Local replotted graph outputs; model values from project summary JSON files.</a:t>
            </a:r>
          </a:p>
        </p:txBody>
      </p:sp>
    </p:spTree>
    <p:extLst>
      <p:ext uri="{BB962C8B-B14F-4D97-AF65-F5344CB8AC3E}">
        <p14:creationId xmlns:p14="http://schemas.microsoft.com/office/powerpoint/2010/main" val="204980047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8136A2-562A-4274-B60F-87442593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65C61-D81A-4DAA-8FF3-9A930BD5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2AC0D42A-C167-43C1-BD5D-F081A8A8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E0C60FE6-5ED7-42E1-8AD9-C84EAD5A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05F"/>
                </a:solidFill>
                <a:latin typeface="Aptos"/>
                <a:ea typeface="Aptos"/>
                <a:cs typeface="Aptos"/>
              </a:rPr>
              <a:t>PULSE COMPRESSION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06D7C-05FD-47AA-9AF1-B46B47C0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43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05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5A1AE0-05F5-4185-A604-CFE56AEF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23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rPr>
              <a:t>Sidelobes can add weaker echoes around the main clutter trace.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B5091-F574-4588-880F-9A108DDA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1247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1cf35eace24200"/>
          <a:stretch xmlns:a="http://schemas.openxmlformats.org/drawingml/2006/main"/>
        </p:blipFill>
        <p:spPr>
          <a:xfrm xmlns:a="http://schemas.openxmlformats.org/drawingml/2006/main">
            <a:off x="787400" y="1581150"/>
            <a:ext cx="6578600" cy="42291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11872-4AB7-4CDE-A60D-3B8AB204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6896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05F"/>
                </a:solidFill>
                <a:latin typeface="Aptos"/>
                <a:ea typeface="Aptos"/>
                <a:cs typeface="Aptos"/>
              </a:rPr>
              <a:t>Pulse-compressed response follows the off-nadir curve and creates nearby sidelobe energy.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BFAA0-8349-48D0-BED0-13F4AA28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66850"/>
            <a:ext cx="3543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1"/>
          </a:solidFill>
          <a:ln xmlns:a="http://schemas.openxmlformats.org/drawingml/2006/main" w="9525">
            <a:solidFill>
              <a:srgbClr val="DAC8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F9A594-D280-47D4-B6ED-462EB6EF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735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4B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4B1F"/>
                </a:solidFill>
                <a:latin typeface="Aptos"/>
                <a:ea typeface="Aptos"/>
                <a:cs typeface="Aptos"/>
              </a:rPr>
              <a:t>Processing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7574B-4626-46F8-850E-CDCD9616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90725"/>
            <a:ext cx="3124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rPr>
              <a:t>compressed echo = pulse autocorrelation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rPr>
              <a:t>main lobe = strongest return</a:t>
            </a:r>
          </a:p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rPr>
              <a:t>sidelobes = weaker copies nearby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0BF261-F370-453E-9A40-75D512E1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28975"/>
            <a:ext cx="3124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This is not data compression. It is radar pulse compression: a long coded/chirped pulse is processed into a shorter effective range response.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C7C53-FF53-4CA5-AF37-E836D519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14850"/>
            <a:ext cx="35433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926547-277D-45EA-914A-DCE23640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3200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6424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64242"/>
                </a:solidFill>
                <a:latin typeface="Aptos"/>
                <a:ea typeface="Aptos"/>
                <a:cs typeface="Aptos"/>
              </a:rPr>
              <a:t>WHAT TO LOOK FOR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B620B5-CAA3-41A7-BC54-3A5637AD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57750"/>
            <a:ext cx="3200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rPr>
              <a:t>Repeating weak bands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57725B-F38E-47AD-AD38-220FECAC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743575"/>
            <a:ext cx="3200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05F"/>
                </a:solidFill>
                <a:latin typeface="Aptos"/>
                <a:ea typeface="Aptos"/>
                <a:cs typeface="Aptos"/>
              </a:rPr>
              <a:t>They should move with the same off-nadir geometry, not independently.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90EEF5-F905-4ACD-BB4C-111A3CDF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800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05F"/>
                </a:solidFill>
                <a:latin typeface="Aptos"/>
                <a:ea typeface="Aptos"/>
                <a:cs typeface="Aptos"/>
              </a:rPr>
              <a:t>Local replotted graph outputs; model values from project summary JSON files.</a:t>
            </a:r>
          </a:p>
        </p:txBody>
      </p:sp>
    </p:spTree>
    <p:extLst>
      <p:ext uri="{BB962C8B-B14F-4D97-AF65-F5344CB8AC3E}">
        <p14:creationId xmlns:p14="http://schemas.microsoft.com/office/powerpoint/2010/main" val="211480561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E2F86A-9623-432A-9EDD-2DAD123F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00F2D-5049-4797-AB27-8DB3E889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67E0ABA8-44D0-4160-BE9F-4E6C9AD8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4D40F467-44DC-4E0D-B498-EEFF5675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05F"/>
                </a:solidFill>
                <a:latin typeface="Aptos"/>
                <a:ea typeface="Aptos"/>
                <a:cs typeface="Aptos"/>
              </a:rPr>
              <a:t>DOPPLER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A1833-5115-4124-AAF3-72B16D0E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43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05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8E90E-0895-4994-8448-B3CCF88C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23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rPr>
              <a:t>The parabolic flyby changes range rate, so it also predicts Doppler.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CC640-88A4-4698-86BB-B8F0D9FF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1247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012313db91494b"/>
          <a:stretch xmlns:a="http://schemas.openxmlformats.org/drawingml/2006/main"/>
        </p:blipFill>
        <p:spPr>
          <a:xfrm xmlns:a="http://schemas.openxmlformats.org/drawingml/2006/main">
            <a:off x="787400" y="1581150"/>
            <a:ext cx="6578600" cy="42291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03AC87-F4B2-4F3E-A38F-C2978C0A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6896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05F"/>
                </a:solidFill>
                <a:latin typeface="Aptos"/>
                <a:ea typeface="Aptos"/>
                <a:cs typeface="Aptos"/>
              </a:rPr>
              <a:t>Doppler is derived from how fast the slant range changes during the pass.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9B6D5B-BAFB-4B79-8F12-EA349A2B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66850"/>
            <a:ext cx="35433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1"/>
          </a:solidFill>
          <a:ln xmlns:a="http://schemas.openxmlformats.org/drawingml/2006/main" w="9525">
            <a:solidFill>
              <a:srgbClr val="DAC8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EB16D4-89DD-410C-A33E-76C327FE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735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F4B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F4B1F"/>
                </a:solidFill>
                <a:latin typeface="Aptos"/>
                <a:ea typeface="Aptos"/>
                <a:cs typeface="Aptos"/>
              </a:rPr>
              <a:t>Chain rule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D09A46-1571-4FB3-BC86-370ECC8A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90725"/>
            <a:ext cx="3124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rPr>
              <a:t>x(t) = v*t</a:t>
            </a:r>
          </a:p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rPr>
              <a:t>z(x) = z0 + a*x^2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rPr>
              <a:t>R = sqrt(x^2 + y^2 + z(x)^2)</a:t>
            </a:r>
          </a:p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rPr>
              <a:t>dR/dt = (x*dx/dt + z*dz/dt)/R</a:t>
            </a:r>
          </a:p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7191D"/>
                </a:solidFill>
                <a:latin typeface="Aptos Mono"/>
                <a:ea typeface="Aptos Mono"/>
                <a:cs typeface="Aptos Mono"/>
              </a:rPr>
              <a:t>fD = -2*(dR/dt)/lambda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51C88-9D83-4EB3-8A46-6345B6B6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29050"/>
            <a:ext cx="3124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v = along-track speed</a:t>
            </a:r>
          </a:p>
          <a:p xmlns:a="http://schemas.openxmlformats.org/drawingml/2006/main">
            <a:pPr algn="l">
              <a:defRPr sz="1125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a = parabola curvature</a:t>
            </a:r>
          </a:p>
          <a:p xmlns:a="http://schemas.openxmlformats.org/drawingml/2006/main">
            <a:pPr algn="l">
              <a:defRPr sz="1125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lambda = radar wavelength</a:t>
            </a:r>
          </a:p>
          <a:p xmlns:a="http://schemas.openxmlformats.org/drawingml/2006/main">
            <a:pPr algn="l">
              <a:defRPr sz="1125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fD = two-way Doppler shift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058330-39E9-4BCE-9100-EEF5F034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57800"/>
            <a:ext cx="312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2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EDD1B8-E345-48C0-9521-C4416E07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10200"/>
            <a:ext cx="3124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91D"/>
                </a:solidFill>
                <a:latin typeface="Aptos"/>
                <a:ea typeface="Aptos"/>
                <a:cs typeface="Aptos"/>
              </a:rPr>
              <a:t>The maximum modeled VHF Doppler is about 445 Hz.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CEAA37-1902-47BD-9696-236F5140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800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05F"/>
                </a:solidFill>
                <a:latin typeface="Aptos"/>
                <a:ea typeface="Aptos"/>
                <a:cs typeface="Aptos"/>
              </a:rPr>
              <a:t>Local replotted graph outputs; model values from project summary JSON files.</a:t>
            </a:r>
          </a:p>
        </p:txBody>
      </p:sp>
    </p:spTree>
    <p:extLst>
      <p:ext uri="{BB962C8B-B14F-4D97-AF65-F5344CB8AC3E}">
        <p14:creationId xmlns:p14="http://schemas.microsoft.com/office/powerpoint/2010/main" val="207869311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C92866-0D57-4C97-9AAB-58BF62C9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0AFE8-3F15-47EF-9C59-6F9B8597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84B887BF-C8AA-4FF4-AC75-6F16546B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302A1845-B7A7-4A5E-9F61-23F42D14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05F"/>
                </a:solidFill>
                <a:latin typeface="Aptos"/>
                <a:ea typeface="Aptos"/>
                <a:cs typeface="Aptos"/>
              </a:rPr>
              <a:t>PRF CONSTRAINT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1C7CD-A2BC-425D-A7DC-615EE024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43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605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6836E-79D5-44BC-B307-B6F8D0BA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923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rPr>
              <a:t>Doppler does not set PRF directly, but it tells us the PRF cannot be too 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880DD-9F11-4FCE-A452-C745E058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5353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d59b287ee84eea"/>
          <a:stretch xmlns:a="http://schemas.openxmlformats.org/drawingml/2006/main"/>
        </p:blipFill>
        <p:spPr>
          <a:xfrm xmlns:a="http://schemas.openxmlformats.org/drawingml/2006/main">
            <a:off x="731308" y="1581150"/>
            <a:ext cx="4919133" cy="31623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7274C1-92FD-4989-8E9B-2DE5B69B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38700"/>
            <a:ext cx="512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05F"/>
                </a:solidFill>
                <a:latin typeface="Aptos"/>
                <a:ea typeface="Aptos"/>
                <a:cs typeface="Aptos"/>
              </a:rPr>
              <a:t>PRF requirement from the maximum modeled Doppler.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8D69D-99B3-4AA9-9891-F6561840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66850"/>
            <a:ext cx="5353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6ccf8121ee4ead"/>
          <a:stretch xmlns:a="http://schemas.openxmlformats.org/drawingml/2006/main"/>
        </p:blipFill>
        <p:spPr>
          <a:xfrm xmlns:a="http://schemas.openxmlformats.org/drawingml/2006/main">
            <a:off x="6541558" y="1581150"/>
            <a:ext cx="4919133" cy="31623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1A68AC-CB6E-4CEA-8CE0-EDF1C720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38700"/>
            <a:ext cx="512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05F"/>
                </a:solidFill>
                <a:latin typeface="Aptos"/>
                <a:ea typeface="Aptos"/>
                <a:cs typeface="Aptos"/>
              </a:rPr>
              <a:t>Example PRF choices compared with the Doppler sampling threshold.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1960FB-43B1-45E2-8DF6-4E7256D8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0"/>
            <a:ext cx="11163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8F7"/>
          </a:solidFill>
          <a:ln xmlns:a="http://schemas.openxmlformats.org/drawingml/2006/main" w="9525">
            <a:solidFill>
              <a:srgbClr val="BDD6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599A6-6B9B-47F6-A2F7-C1FEED5D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53075"/>
            <a:ext cx="10725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Math: PRF &gt;= 2*max(|fD|). With max VHF Doppler about 445 Hz, the simple no-aliasing threshold is about 890 Hz. PRF also affects along-track pulse spacing and unambiguous range, so the final value is a tradeoff.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E5708C-3BCD-4909-A087-8DDFCB5C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8001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605F"/>
                </a:solidFill>
                <a:latin typeface="Aptos"/>
                <a:ea typeface="Aptos"/>
                <a:cs typeface="Aptos"/>
              </a:rPr>
              <a:t>Local replotted graph outputs; model values from project summary JSON files.</a:t>
            </a:r>
          </a:p>
        </p:txBody>
      </p:sp>
    </p:spTree>
    <p:extLst>
      <p:ext uri="{BB962C8B-B14F-4D97-AF65-F5344CB8AC3E}">
        <p14:creationId xmlns:p14="http://schemas.microsoft.com/office/powerpoint/2010/main" val="128481192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269D4B-1DDC-43CA-BC75-F11D6172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BABB5FA8-1BB7-4F70-8682-D1B682A2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CC7B45A7-7C5F-4CC5-AD48-C57ED3B3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D3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D3D8"/>
                </a:solidFill>
                <a:latin typeface="Aptos"/>
                <a:ea typeface="Aptos"/>
                <a:cs typeface="Aptos"/>
              </a:rPr>
              <a:t>PROFESSOR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8ECD2-7DD8-4C83-B71C-833023C9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43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D3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D3D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183D1-1FC4-4EEE-9833-5181763D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What I think will happen in the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2757B-599A-47C9-A5EF-BDCA41FB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027"/>
          </a:solidFill>
          <a:ln xmlns:a="http://schemas.openxmlformats.org/drawingml/2006/main" w="9525">
            <a:solidFill>
              <a:srgbClr val="3B46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46AB77-CD8F-4275-8DD6-A64D9E15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3086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96C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96C2C"/>
                </a:solidFill>
                <a:latin typeface="Aptos"/>
                <a:ea typeface="Aptos"/>
                <a:cs typeface="Aptos"/>
              </a:rPr>
              <a:t>1. DEPTH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AA9F5-F4DD-4538-8E46-033BBBCE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086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~440 m false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FAFB95-117C-4778-82E6-34A19C86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3086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C7C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C7CD"/>
                </a:solidFill>
                <a:latin typeface="Aptos"/>
                <a:ea typeface="Aptos"/>
                <a:cs typeface="Aptos"/>
              </a:rPr>
              <a:t>Created by 25 km side-looking geometry.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CF158F-0FD0-4799-A9D1-465BBAC4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027"/>
          </a:solidFill>
          <a:ln xmlns:a="http://schemas.openxmlformats.org/drawingml/2006/main" w="9525">
            <a:solidFill>
              <a:srgbClr val="3B46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7B3C6-FE34-4426-95FC-22147660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3086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0B6C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0B6CC"/>
                </a:solidFill>
                <a:latin typeface="Aptos"/>
                <a:ea typeface="Aptos"/>
                <a:cs typeface="Aptos"/>
              </a:rPr>
              <a:t>2. SHAPE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C3F6C3-32D8-4631-B366-6887BADA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3086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Curved radargram trace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47034-8113-4046-98F8-AAC5DD35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52825"/>
            <a:ext cx="3086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C7C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C7CD"/>
                </a:solidFill>
                <a:latin typeface="Aptos"/>
                <a:ea typeface="Aptos"/>
                <a:cs typeface="Aptos"/>
              </a:rPr>
              <a:t>It follows range-to-surface geometry.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0B6ED7-239D-4413-ACFC-8BE05C68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027"/>
          </a:solidFill>
          <a:ln xmlns:a="http://schemas.openxmlformats.org/drawingml/2006/main" w="9525">
            <a:solidFill>
              <a:srgbClr val="3B46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1A202D-F7C9-40B6-88E4-587DA230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3086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FCE9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FCE9D"/>
                </a:solidFill>
                <a:latin typeface="Aptos"/>
                <a:ea typeface="Aptos"/>
                <a:cs typeface="Aptos"/>
              </a:rPr>
              <a:t>3. PHASE AND PRF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7D53C1-172F-4959-82B5-711F9524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3086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Side phase, PRF &gt; 890 Hz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1CAD16-EDF3-4F49-9A46-04B652DD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48225"/>
            <a:ext cx="3086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C7C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C7CD"/>
                </a:solidFill>
                <a:latin typeface="Aptos"/>
                <a:ea typeface="Aptos"/>
                <a:cs typeface="Aptos"/>
              </a:rPr>
              <a:t>Phase should recover about 25 km offset.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1D2E80-A14F-4A2E-BBDF-4E161FA5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811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882b84370e4b3a"/>
          <a:stretch xmlns:a="http://schemas.openxmlformats.org/drawingml/2006/main"/>
        </p:blipFill>
        <p:spPr>
          <a:xfrm xmlns:a="http://schemas.openxmlformats.org/drawingml/2006/main">
            <a:off x="5000625" y="1695450"/>
            <a:ext cx="2400300" cy="15430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6911FA-8A3F-45EE-8ACA-551D293E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33750"/>
            <a:ext cx="2914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05F"/>
                </a:solidFill>
                <a:latin typeface="Aptos"/>
                <a:ea typeface="Aptos"/>
                <a:cs typeface="Aptos"/>
              </a:rPr>
              <a:t>False-depth prediction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94EEB0-6EF7-448C-8FC3-B601B347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811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a50e7234ee40f6"/>
          <a:stretch xmlns:a="http://schemas.openxmlformats.org/drawingml/2006/main"/>
        </p:blipFill>
        <p:spPr>
          <a:xfrm xmlns:a="http://schemas.openxmlformats.org/drawingml/2006/main">
            <a:off x="8429625" y="1695450"/>
            <a:ext cx="2400300" cy="15430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EEE8E2-40D2-4FAF-83D6-9C23F660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33750"/>
            <a:ext cx="2914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05F"/>
                </a:solidFill>
                <a:latin typeface="Aptos"/>
                <a:ea typeface="Aptos"/>
                <a:cs typeface="Aptos"/>
              </a:rPr>
              <a:t>Radargram shape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70359A-01C8-4E1D-B44E-5E0717AB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2430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d6ceb1f22d4cde"/>
          <a:stretch xmlns:a="http://schemas.openxmlformats.org/drawingml/2006/main"/>
        </p:blipFill>
        <p:spPr>
          <a:xfrm xmlns:a="http://schemas.openxmlformats.org/drawingml/2006/main">
            <a:off x="6715125" y="4038600"/>
            <a:ext cx="2400300" cy="15430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C8681B-3C71-40A8-985B-3403C49E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76900"/>
            <a:ext cx="2914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0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05F"/>
                </a:solidFill>
                <a:latin typeface="Aptos"/>
                <a:ea typeface="Aptos"/>
                <a:cs typeface="Aptos"/>
              </a:rPr>
              <a:t>PRF sampling 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830AB0-6195-4486-A6AB-0B6E38D1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6038850"/>
            <a:ext cx="657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DDE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DDE0"/>
                </a:solidFill>
                <a:latin typeface="Aptos"/>
                <a:ea typeface="Aptos"/>
                <a:cs typeface="Aptos"/>
              </a:rPr>
              <a:t>Bottom line: if the candidate is off-nadir clutter, the geometry, phase, and Doppler should agree with each other. If they do not, the hypothesis gets weaker.</a:t>
            </a:r>
          </a:p>
        </p:txBody>
      </p:sp>
    </p:spTree>
    <p:extLst>
      <p:ext uri="{BB962C8B-B14F-4D97-AF65-F5344CB8AC3E}">
        <p14:creationId xmlns:p14="http://schemas.microsoft.com/office/powerpoint/2010/main" val="12906211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2026-06-04T03:39:29.8530000Z</dcterms:created>
  <dcterms:modified xsi:type="dcterms:W3CDTF">2026-06-04T03:39:29.8530000Z</dcterms:modified>
</coreProperties>
</file>